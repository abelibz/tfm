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Georgia Pro" charset="1" panose="02040502050405020303"/>
      <p:regular r:id="rId30"/>
    </p:embeddedFont>
    <p:embeddedFont>
      <p:font typeface="Arial MT Pro Bold" charset="1" panose="020B0802020202020204"/>
      <p:regular r:id="rId31"/>
    </p:embeddedFont>
    <p:embeddedFont>
      <p:font typeface="Arial MT Pro" charset="1" panose="020B0502020202020204"/>
      <p:regular r:id="rId32"/>
    </p:embeddedFont>
    <p:embeddedFont>
      <p:font typeface="Arial MT Pro Italics" charset="1" panose="020B0502020202090204"/>
      <p:regular r:id="rId33"/>
    </p:embeddedFont>
    <p:embeddedFont>
      <p:font typeface="Rosario" charset="1" panose="02000503040000020003"/>
      <p:regular r:id="rId34"/>
    </p:embeddedFont>
    <p:embeddedFont>
      <p:font typeface="Rosario Bold" charset="1" panose="020005030600000200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19.png" Type="http://schemas.openxmlformats.org/officeDocument/2006/relationships/image"/><Relationship Id="rId16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4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390" b="1049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40600" y="9778950"/>
            <a:ext cx="17332200" cy="57600"/>
            <a:chOff x="0" y="0"/>
            <a:chExt cx="23109600" cy="76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109555" cy="76835"/>
            </a:xfrm>
            <a:custGeom>
              <a:avLst/>
              <a:gdLst/>
              <a:ahLst/>
              <a:cxnLst/>
              <a:rect r="r" b="b" t="t" l="l"/>
              <a:pathLst>
                <a:path h="76835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76835"/>
                  </a:lnTo>
                  <a:lnTo>
                    <a:pt x="0" y="76835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38100" y="1308350"/>
            <a:ext cx="14736600" cy="57600"/>
            <a:chOff x="0" y="0"/>
            <a:chExt cx="19648800" cy="76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648805" cy="76835"/>
            </a:xfrm>
            <a:custGeom>
              <a:avLst/>
              <a:gdLst/>
              <a:ahLst/>
              <a:cxnLst/>
              <a:rect r="r" b="b" t="t" l="l"/>
              <a:pathLst>
                <a:path h="76835" w="19648805">
                  <a:moveTo>
                    <a:pt x="0" y="0"/>
                  </a:moveTo>
                  <a:lnTo>
                    <a:pt x="19648805" y="0"/>
                  </a:lnTo>
                  <a:lnTo>
                    <a:pt x="19648805" y="76835"/>
                  </a:lnTo>
                  <a:lnTo>
                    <a:pt x="0" y="76835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8100" y="479250"/>
            <a:ext cx="14736600" cy="57600"/>
            <a:chOff x="0" y="0"/>
            <a:chExt cx="19648800" cy="7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48805" cy="76835"/>
            </a:xfrm>
            <a:custGeom>
              <a:avLst/>
              <a:gdLst/>
              <a:ahLst/>
              <a:cxnLst/>
              <a:rect r="r" b="b" t="t" l="l"/>
              <a:pathLst>
                <a:path h="76835" w="19648805">
                  <a:moveTo>
                    <a:pt x="0" y="0"/>
                  </a:moveTo>
                  <a:lnTo>
                    <a:pt x="19648805" y="0"/>
                  </a:lnTo>
                  <a:lnTo>
                    <a:pt x="19648805" y="76835"/>
                  </a:lnTo>
                  <a:lnTo>
                    <a:pt x="0" y="76835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577900" y="1308350"/>
            <a:ext cx="1194600" cy="57600"/>
            <a:chOff x="0" y="0"/>
            <a:chExt cx="1592800" cy="76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2834" cy="76835"/>
            </a:xfrm>
            <a:custGeom>
              <a:avLst/>
              <a:gdLst/>
              <a:ahLst/>
              <a:cxnLst/>
              <a:rect r="r" b="b" t="t" l="l"/>
              <a:pathLst>
                <a:path h="76835" w="1592834">
                  <a:moveTo>
                    <a:pt x="0" y="0"/>
                  </a:moveTo>
                  <a:lnTo>
                    <a:pt x="1592834" y="0"/>
                  </a:lnTo>
                  <a:lnTo>
                    <a:pt x="1592834" y="76835"/>
                  </a:lnTo>
                  <a:lnTo>
                    <a:pt x="0" y="76835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77900" y="478100"/>
            <a:ext cx="1194600" cy="57600"/>
            <a:chOff x="0" y="0"/>
            <a:chExt cx="1592800" cy="76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92834" cy="76835"/>
            </a:xfrm>
            <a:custGeom>
              <a:avLst/>
              <a:gdLst/>
              <a:ahLst/>
              <a:cxnLst/>
              <a:rect r="r" b="b" t="t" l="l"/>
              <a:pathLst>
                <a:path h="76835" w="1592834">
                  <a:moveTo>
                    <a:pt x="0" y="0"/>
                  </a:moveTo>
                  <a:lnTo>
                    <a:pt x="1592834" y="0"/>
                  </a:lnTo>
                  <a:lnTo>
                    <a:pt x="1592834" y="76835"/>
                  </a:lnTo>
                  <a:lnTo>
                    <a:pt x="0" y="76835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577900" y="575300"/>
            <a:ext cx="603250" cy="128400"/>
          </a:xfrm>
          <a:custGeom>
            <a:avLst/>
            <a:gdLst/>
            <a:ahLst/>
            <a:cxnLst/>
            <a:rect r="r" b="b" t="t" l="l"/>
            <a:pathLst>
              <a:path h="128400" w="603250">
                <a:moveTo>
                  <a:pt x="0" y="0"/>
                </a:moveTo>
                <a:lnTo>
                  <a:pt x="603250" y="0"/>
                </a:lnTo>
                <a:lnTo>
                  <a:pt x="603250" y="128400"/>
                </a:lnTo>
                <a:lnTo>
                  <a:pt x="0" y="128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" t="0" r="-11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-23200" y="-23200"/>
            <a:ext cx="18288000" cy="10310400"/>
            <a:chOff x="0" y="0"/>
            <a:chExt cx="24384000" cy="1374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13747242"/>
            </a:xfrm>
            <a:custGeom>
              <a:avLst/>
              <a:gdLst/>
              <a:ahLst/>
              <a:cxnLst/>
              <a:rect r="r" b="b" t="t" l="l"/>
              <a:pathLst>
                <a:path h="1374724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47242"/>
                  </a:lnTo>
                  <a:lnTo>
                    <a:pt x="0" y="13747242"/>
                  </a:lnTo>
                  <a:close/>
                </a:path>
              </a:pathLst>
            </a:custGeom>
            <a:solidFill>
              <a:srgbClr val="000078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6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10461" b="10499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" t="0" r="-1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40598" y="8110561"/>
            <a:ext cx="1827600" cy="88200"/>
            <a:chOff x="0" y="0"/>
            <a:chExt cx="2436800" cy="117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6749" cy="117602"/>
            </a:xfrm>
            <a:custGeom>
              <a:avLst/>
              <a:gdLst/>
              <a:ahLst/>
              <a:cxnLst/>
              <a:rect r="r" b="b" t="t" l="l"/>
              <a:pathLst>
                <a:path h="117602" w="2436749">
                  <a:moveTo>
                    <a:pt x="0" y="0"/>
                  </a:moveTo>
                  <a:lnTo>
                    <a:pt x="2436749" y="0"/>
                  </a:lnTo>
                  <a:lnTo>
                    <a:pt x="2436749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420300" y="8110561"/>
            <a:ext cx="15352200" cy="88200"/>
            <a:chOff x="0" y="0"/>
            <a:chExt cx="20469600" cy="117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420502" y="8093986"/>
            <a:ext cx="15247490" cy="1539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0"/>
              </a:lnSpc>
            </a:pPr>
            <a:r>
              <a:rPr lang="en-US" sz="410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Abel Mora Vázquez </a:t>
            </a:r>
          </a:p>
          <a:p>
            <a:pPr algn="l">
              <a:lnSpc>
                <a:spcPts val="6150"/>
              </a:lnSpc>
            </a:pPr>
            <a:r>
              <a:rPr lang="en-US" sz="4100">
                <a:solidFill>
                  <a:srgbClr val="FFFFFF"/>
                </a:solidFill>
                <a:latin typeface="Georgia Pro"/>
                <a:ea typeface="Georgia Pro"/>
                <a:cs typeface="Georgia Pro"/>
                <a:sym typeface="Georgia Pro"/>
              </a:rPr>
              <a:t>Máster Ciencia de Datos 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20502" y="1776075"/>
            <a:ext cx="15247490" cy="519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60"/>
              </a:lnSpc>
            </a:pPr>
            <a:r>
              <a:rPr lang="en-US" sz="83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TFM: Análisis de Mercado Inmobiliario en Área Metropolitana de Barcelona mediante Ciencia de Datos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152855" y="4789768"/>
            <a:ext cx="2940817" cy="710131"/>
          </a:xfrm>
          <a:custGeom>
            <a:avLst/>
            <a:gdLst/>
            <a:ahLst/>
            <a:cxnLst/>
            <a:rect r="r" b="b" t="t" l="l"/>
            <a:pathLst>
              <a:path h="710131" w="2940817">
                <a:moveTo>
                  <a:pt x="0" y="0"/>
                </a:moveTo>
                <a:lnTo>
                  <a:pt x="2940817" y="0"/>
                </a:lnTo>
                <a:lnTo>
                  <a:pt x="2940817" y="710131"/>
                </a:lnTo>
                <a:lnTo>
                  <a:pt x="0" y="710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40685" y="8111765"/>
            <a:ext cx="1923792" cy="1329863"/>
          </a:xfrm>
          <a:custGeom>
            <a:avLst/>
            <a:gdLst/>
            <a:ahLst/>
            <a:cxnLst/>
            <a:rect r="r" b="b" t="t" l="l"/>
            <a:pathLst>
              <a:path h="1329863" w="1923792">
                <a:moveTo>
                  <a:pt x="0" y="0"/>
                </a:moveTo>
                <a:lnTo>
                  <a:pt x="1923792" y="0"/>
                </a:lnTo>
                <a:lnTo>
                  <a:pt x="1923792" y="1329864"/>
                </a:lnTo>
                <a:lnTo>
                  <a:pt x="0" y="1329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7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10390" b="1049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10461" b="10499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" t="0" r="-1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8089451" y="4789768"/>
            <a:ext cx="2940817" cy="710131"/>
          </a:xfrm>
          <a:custGeom>
            <a:avLst/>
            <a:gdLst/>
            <a:ahLst/>
            <a:cxnLst/>
            <a:rect r="r" b="b" t="t" l="l"/>
            <a:pathLst>
              <a:path h="710131" w="2940817">
                <a:moveTo>
                  <a:pt x="0" y="0"/>
                </a:moveTo>
                <a:lnTo>
                  <a:pt x="2940817" y="0"/>
                </a:lnTo>
                <a:lnTo>
                  <a:pt x="2940817" y="710131"/>
                </a:lnTo>
                <a:lnTo>
                  <a:pt x="0" y="710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-4037543" y="1791667"/>
            <a:ext cx="8276165" cy="95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00"/>
              </a:lnSpc>
            </a:pPr>
            <a:r>
              <a:rPr lang="en-US" sz="5000" b="true">
                <a:solidFill>
                  <a:srgbClr val="F1F1F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Índice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67017" y="3673676"/>
            <a:ext cx="483399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1F1F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Introducción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67017" y="4761241"/>
            <a:ext cx="4445424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1F1F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Metodología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67017" y="5856964"/>
            <a:ext cx="528979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1F1F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Obtención de datos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5400000">
            <a:off x="2124570" y="7058326"/>
            <a:ext cx="999079" cy="710131"/>
          </a:xfrm>
          <a:custGeom>
            <a:avLst/>
            <a:gdLst/>
            <a:ahLst/>
            <a:cxnLst/>
            <a:rect r="r" b="b" t="t" l="l"/>
            <a:pathLst>
              <a:path h="710131" w="999079">
                <a:moveTo>
                  <a:pt x="0" y="0"/>
                </a:moveTo>
                <a:lnTo>
                  <a:pt x="999079" y="0"/>
                </a:lnTo>
                <a:lnTo>
                  <a:pt x="999079" y="710131"/>
                </a:lnTo>
                <a:lnTo>
                  <a:pt x="0" y="7101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94352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9060320" y="7089494"/>
            <a:ext cx="999079" cy="710131"/>
          </a:xfrm>
          <a:custGeom>
            <a:avLst/>
            <a:gdLst/>
            <a:ahLst/>
            <a:cxnLst/>
            <a:rect r="r" b="b" t="t" l="l"/>
            <a:pathLst>
              <a:path h="710131" w="999079">
                <a:moveTo>
                  <a:pt x="0" y="0"/>
                </a:moveTo>
                <a:lnTo>
                  <a:pt x="999079" y="0"/>
                </a:lnTo>
                <a:lnTo>
                  <a:pt x="999079" y="710130"/>
                </a:lnTo>
                <a:lnTo>
                  <a:pt x="0" y="7101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94352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305450" y="6983507"/>
            <a:ext cx="593435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1F1F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Aplicación de Visualización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05450" y="5963596"/>
            <a:ext cx="619712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1F1F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Modelado precio vivienda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05450" y="4866894"/>
            <a:ext cx="619712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1F1F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Clusterización distritos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05450" y="3704844"/>
            <a:ext cx="623455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1F1F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Reducción de dimensionalidad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367017" y="6942814"/>
            <a:ext cx="544725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1F1F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Análisis Exploratorio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77900" y="575300"/>
            <a:ext cx="603250" cy="128400"/>
          </a:xfrm>
          <a:custGeom>
            <a:avLst/>
            <a:gdLst/>
            <a:ahLst/>
            <a:cxnLst/>
            <a:rect r="r" b="b" t="t" l="l"/>
            <a:pathLst>
              <a:path h="128400" w="603250">
                <a:moveTo>
                  <a:pt x="0" y="0"/>
                </a:moveTo>
                <a:lnTo>
                  <a:pt x="603250" y="0"/>
                </a:lnTo>
                <a:lnTo>
                  <a:pt x="603250" y="128400"/>
                </a:lnTo>
                <a:lnTo>
                  <a:pt x="0" y="128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" t="0" r="-11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6406148" y="-253558"/>
            <a:ext cx="18288000" cy="10310400"/>
            <a:chOff x="0" y="0"/>
            <a:chExt cx="24384000" cy="13747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747242"/>
            </a:xfrm>
            <a:custGeom>
              <a:avLst/>
              <a:gdLst/>
              <a:ahLst/>
              <a:cxnLst/>
              <a:rect r="r" b="b" t="t" l="l"/>
              <a:pathLst>
                <a:path h="1374724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47242"/>
                  </a:lnTo>
                  <a:lnTo>
                    <a:pt x="0" y="13747242"/>
                  </a:lnTo>
                  <a:close/>
                </a:path>
              </a:pathLst>
            </a:custGeom>
            <a:solidFill>
              <a:srgbClr val="000078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10461" b="10499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t="0" r="-1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55438" y="6461254"/>
            <a:ext cx="1682602" cy="1682602"/>
          </a:xfrm>
          <a:custGeom>
            <a:avLst/>
            <a:gdLst/>
            <a:ahLst/>
            <a:cxnLst/>
            <a:rect r="r" b="b" t="t" l="l"/>
            <a:pathLst>
              <a:path h="1682602" w="1682602">
                <a:moveTo>
                  <a:pt x="0" y="0"/>
                </a:moveTo>
                <a:lnTo>
                  <a:pt x="1682602" y="0"/>
                </a:lnTo>
                <a:lnTo>
                  <a:pt x="1682602" y="1682602"/>
                </a:lnTo>
                <a:lnTo>
                  <a:pt x="0" y="16826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372596" y="6832232"/>
            <a:ext cx="1621802" cy="940645"/>
          </a:xfrm>
          <a:custGeom>
            <a:avLst/>
            <a:gdLst/>
            <a:ahLst/>
            <a:cxnLst/>
            <a:rect r="r" b="b" t="t" l="l"/>
            <a:pathLst>
              <a:path h="940645" w="1621802">
                <a:moveTo>
                  <a:pt x="0" y="0"/>
                </a:moveTo>
                <a:lnTo>
                  <a:pt x="1621802" y="0"/>
                </a:lnTo>
                <a:lnTo>
                  <a:pt x="1621802" y="940645"/>
                </a:lnTo>
                <a:lnTo>
                  <a:pt x="0" y="9406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37972" y="6767632"/>
            <a:ext cx="1069847" cy="1069847"/>
          </a:xfrm>
          <a:custGeom>
            <a:avLst/>
            <a:gdLst/>
            <a:ahLst/>
            <a:cxnLst/>
            <a:rect r="r" b="b" t="t" l="l"/>
            <a:pathLst>
              <a:path h="1069847" w="1069847">
                <a:moveTo>
                  <a:pt x="0" y="0"/>
                </a:moveTo>
                <a:lnTo>
                  <a:pt x="1069847" y="0"/>
                </a:lnTo>
                <a:lnTo>
                  <a:pt x="1069847" y="1069846"/>
                </a:lnTo>
                <a:lnTo>
                  <a:pt x="0" y="10698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421348" y="1899900"/>
            <a:ext cx="8520627" cy="6115050"/>
            <a:chOff x="0" y="0"/>
            <a:chExt cx="11360836" cy="8153401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76200"/>
              <a:ext cx="7669765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9"/>
                </a:lnSpc>
              </a:pPr>
              <a:r>
                <a:rPr lang="en-US" sz="3799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Introducción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885" y="1028700"/>
              <a:ext cx="11357951" cy="7124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</a:p>
            <a:p>
              <a:pPr algn="l">
                <a:lnSpc>
                  <a:spcPts val="559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Sector Inmobiliario</a:t>
              </a:r>
            </a:p>
            <a:p>
              <a:pPr algn="just">
                <a:lnSpc>
                  <a:spcPts val="321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El sector inmobiliario ha evolucionado pasando de establecimiento físicos a publicaciones en portales inmobiliarios con acceso a metadatos</a:t>
              </a:r>
              <a:r>
                <a:rPr lang="en-US" sz="2799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</a:t>
              </a:r>
            </a:p>
            <a:p>
              <a:pPr algn="l">
                <a:lnSpc>
                  <a:spcPts val="3000"/>
                </a:lnSpc>
              </a:pPr>
            </a:p>
            <a:p>
              <a:pPr algn="l">
                <a:lnSpc>
                  <a:spcPts val="3000"/>
                </a:lnSpc>
              </a:pPr>
            </a:p>
            <a:p>
              <a:pPr algn="l">
                <a:lnSpc>
                  <a:spcPts val="559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Ciencia de datos</a:t>
              </a:r>
            </a:p>
            <a:p>
              <a:pPr algn="just">
                <a:lnSpc>
                  <a:spcPts val="3219"/>
                </a:lnSpc>
              </a:pPr>
              <a:r>
                <a:rPr lang="en-US" sz="2799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Obtiene de los </a:t>
              </a:r>
              <a:r>
                <a:rPr lang="en-US" sz="2799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datos</a:t>
              </a:r>
              <a:r>
                <a:rPr lang="en-US" sz="2799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recopilados </a:t>
              </a:r>
              <a:r>
                <a:rPr lang="en-US" sz="2799" i="true">
                  <a:solidFill>
                    <a:srgbClr val="FFFFFF"/>
                  </a:solidFill>
                  <a:latin typeface="Arial MT Pro Italics"/>
                  <a:ea typeface="Arial MT Pro Italics"/>
                  <a:cs typeface="Arial MT Pro Italics"/>
                  <a:sym typeface="Arial MT Pro Italics"/>
                </a:rPr>
                <a:t>insights</a:t>
              </a:r>
              <a:r>
                <a:rPr lang="en-US" sz="2799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 relevantes que permiten la toma de decisiones en la compra de vivienda.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2566356" y="3760011"/>
            <a:ext cx="1571616" cy="1500179"/>
          </a:xfrm>
          <a:custGeom>
            <a:avLst/>
            <a:gdLst/>
            <a:ahLst/>
            <a:cxnLst/>
            <a:rect r="r" b="b" t="t" l="l"/>
            <a:pathLst>
              <a:path h="1500179" w="1571616">
                <a:moveTo>
                  <a:pt x="0" y="0"/>
                </a:moveTo>
                <a:lnTo>
                  <a:pt x="1571616" y="0"/>
                </a:lnTo>
                <a:lnTo>
                  <a:pt x="1571616" y="1500179"/>
                </a:lnTo>
                <a:lnTo>
                  <a:pt x="0" y="15001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111491" y="3760011"/>
            <a:ext cx="1620581" cy="1626496"/>
          </a:xfrm>
          <a:custGeom>
            <a:avLst/>
            <a:gdLst/>
            <a:ahLst/>
            <a:cxnLst/>
            <a:rect r="r" b="b" t="t" l="l"/>
            <a:pathLst>
              <a:path h="1626496" w="1620581">
                <a:moveTo>
                  <a:pt x="0" y="0"/>
                </a:moveTo>
                <a:lnTo>
                  <a:pt x="1620581" y="0"/>
                </a:lnTo>
                <a:lnTo>
                  <a:pt x="1620581" y="1626496"/>
                </a:lnTo>
                <a:lnTo>
                  <a:pt x="0" y="162649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055438" y="7797304"/>
            <a:ext cx="1682602" cy="47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1F1F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Predicción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10906" y="7797304"/>
            <a:ext cx="1945184" cy="47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1F1F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Valoraciones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71083" y="7797304"/>
            <a:ext cx="2443937" cy="47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1F1F1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Datos históricos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77900" y="575300"/>
            <a:ext cx="603250" cy="128400"/>
          </a:xfrm>
          <a:custGeom>
            <a:avLst/>
            <a:gdLst/>
            <a:ahLst/>
            <a:cxnLst/>
            <a:rect r="r" b="b" t="t" l="l"/>
            <a:pathLst>
              <a:path h="128400" w="603250">
                <a:moveTo>
                  <a:pt x="0" y="0"/>
                </a:moveTo>
                <a:lnTo>
                  <a:pt x="603250" y="0"/>
                </a:lnTo>
                <a:lnTo>
                  <a:pt x="603250" y="128400"/>
                </a:lnTo>
                <a:lnTo>
                  <a:pt x="0" y="128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" t="0" r="-1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10461" b="10499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t="0" r="-1" b="0"/>
            </a:stretch>
          </a:blipFill>
        </p:spPr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0581435" y="6086305"/>
          <a:ext cx="7191365" cy="3496181"/>
        </p:xfrm>
        <a:graphic>
          <a:graphicData uri="http://schemas.openxmlformats.org/drawingml/2006/table">
            <a:tbl>
              <a:tblPr/>
              <a:tblGrid>
                <a:gridCol w="2155276"/>
                <a:gridCol w="3066451"/>
                <a:gridCol w="1969638"/>
              </a:tblGrid>
              <a:tr h="5082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9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78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INTERNOS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9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78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EXTERNOS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9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78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TÉCNICOS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EDFF"/>
                    </a:solidFill>
                  </a:tcPr>
                </a:tc>
              </a:tr>
              <a:tr h="15324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78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Datos insuficientes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9"/>
                        </a:lnSpc>
                        <a:defRPr/>
                      </a:pPr>
                      <a:r>
                        <a:rPr lang="en-US" sz="2199">
                          <a:solidFill>
                            <a:srgbClr val="000078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Modificación sustancial de la situación laboral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78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Equipo técnico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555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9"/>
                        </a:lnSpc>
                        <a:defRPr/>
                      </a:pPr>
                      <a:r>
                        <a:rPr lang="en-US" sz="2199">
                          <a:solidFill>
                            <a:srgbClr val="000078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Cumplimiento normativo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529"/>
                        </a:lnSpc>
                        <a:defRPr/>
                      </a:pPr>
                      <a:r>
                        <a:rPr lang="en-US" sz="2199">
                          <a:solidFill>
                            <a:srgbClr val="000078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Modificación sustancial de salud propia familiar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9"/>
                        </a:lnSpc>
                        <a:defRPr/>
                      </a:pPr>
                      <a:r>
                        <a:rPr lang="en-US" sz="2199">
                          <a:solidFill>
                            <a:srgbClr val="000078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Nuevas tecnologías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F1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15" id="15"/>
          <p:cNvSpPr/>
          <p:nvPr/>
        </p:nvSpPr>
        <p:spPr>
          <a:xfrm flipH="false" flipV="false" rot="0">
            <a:off x="10581435" y="2166430"/>
            <a:ext cx="7156605" cy="3596194"/>
          </a:xfrm>
          <a:custGeom>
            <a:avLst/>
            <a:gdLst/>
            <a:ahLst/>
            <a:cxnLst/>
            <a:rect r="r" b="b" t="t" l="l"/>
            <a:pathLst>
              <a:path h="3596194" w="7156605">
                <a:moveTo>
                  <a:pt x="0" y="0"/>
                </a:moveTo>
                <a:lnTo>
                  <a:pt x="7156605" y="0"/>
                </a:lnTo>
                <a:lnTo>
                  <a:pt x="7156605" y="3596194"/>
                </a:lnTo>
                <a:lnTo>
                  <a:pt x="0" y="35961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421348" y="2921637"/>
            <a:ext cx="7517308" cy="20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28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Planificación</a:t>
            </a:r>
          </a:p>
          <a:p>
            <a:pPr algn="just">
              <a:lnSpc>
                <a:spcPts val="3220"/>
              </a:lnSpc>
            </a:pPr>
            <a:r>
              <a:rPr lang="en-US" sz="2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La planificación inicial ha sido distribuida en tareas a realizar incorporando posteriormente  los  hitos y actualizaciones.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21348" y="6057900"/>
            <a:ext cx="7215541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2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Riesgos</a:t>
            </a: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La tabla de riesgos refleja los tipos de riesgos que pueden aparecer y junto a las medidas a tomar, forman la tabla de gestión de riesgos.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21348" y="1823700"/>
            <a:ext cx="57523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Introducción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77900" y="575300"/>
            <a:ext cx="603250" cy="128400"/>
          </a:xfrm>
          <a:custGeom>
            <a:avLst/>
            <a:gdLst/>
            <a:ahLst/>
            <a:cxnLst/>
            <a:rect r="r" b="b" t="t" l="l"/>
            <a:pathLst>
              <a:path h="128400" w="603250">
                <a:moveTo>
                  <a:pt x="0" y="0"/>
                </a:moveTo>
                <a:lnTo>
                  <a:pt x="603250" y="0"/>
                </a:lnTo>
                <a:lnTo>
                  <a:pt x="603250" y="128400"/>
                </a:lnTo>
                <a:lnTo>
                  <a:pt x="0" y="128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" t="0" r="-1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10461" b="10499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t="0" r="-1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806564" y="4937857"/>
            <a:ext cx="8622936" cy="1480671"/>
            <a:chOff x="0" y="0"/>
            <a:chExt cx="2227828" cy="3825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27828" cy="382547"/>
            </a:xfrm>
            <a:custGeom>
              <a:avLst/>
              <a:gdLst/>
              <a:ahLst/>
              <a:cxnLst/>
              <a:rect r="r" b="b" t="t" l="l"/>
              <a:pathLst>
                <a:path h="382547" w="2227828">
                  <a:moveTo>
                    <a:pt x="89783" y="0"/>
                  </a:moveTo>
                  <a:lnTo>
                    <a:pt x="2138045" y="0"/>
                  </a:lnTo>
                  <a:cubicBezTo>
                    <a:pt x="2187630" y="0"/>
                    <a:pt x="2227828" y="40197"/>
                    <a:pt x="2227828" y="89783"/>
                  </a:cubicBezTo>
                  <a:lnTo>
                    <a:pt x="2227828" y="292764"/>
                  </a:lnTo>
                  <a:cubicBezTo>
                    <a:pt x="2227828" y="342350"/>
                    <a:pt x="2187630" y="382547"/>
                    <a:pt x="2138045" y="382547"/>
                  </a:cubicBezTo>
                  <a:lnTo>
                    <a:pt x="89783" y="382547"/>
                  </a:lnTo>
                  <a:cubicBezTo>
                    <a:pt x="40197" y="382547"/>
                    <a:pt x="0" y="342350"/>
                    <a:pt x="0" y="292764"/>
                  </a:cubicBezTo>
                  <a:lnTo>
                    <a:pt x="0" y="89783"/>
                  </a:lnTo>
                  <a:cubicBezTo>
                    <a:pt x="0" y="40197"/>
                    <a:pt x="40197" y="0"/>
                    <a:pt x="89783" y="0"/>
                  </a:cubicBezTo>
                  <a:close/>
                </a:path>
              </a:pathLst>
            </a:custGeom>
            <a:solidFill>
              <a:srgbClr val="010077"/>
            </a:solidFill>
            <a:ln w="47625" cap="rnd">
              <a:solidFill>
                <a:srgbClr val="73ED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27828" cy="420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963222" y="4923463"/>
            <a:ext cx="6361556" cy="125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1"/>
              </a:lnSpc>
            </a:pPr>
            <a:r>
              <a:rPr lang="en-US" sz="657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Metodología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420502" y="2127954"/>
            <a:ext cx="4822316" cy="2462887"/>
            <a:chOff x="0" y="0"/>
            <a:chExt cx="1245897" cy="6363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5897" cy="636313"/>
            </a:xfrm>
            <a:custGeom>
              <a:avLst/>
              <a:gdLst/>
              <a:ahLst/>
              <a:cxnLst/>
              <a:rect r="r" b="b" t="t" l="l"/>
              <a:pathLst>
                <a:path h="636313" w="1245897">
                  <a:moveTo>
                    <a:pt x="32109" y="0"/>
                  </a:moveTo>
                  <a:lnTo>
                    <a:pt x="1213788" y="0"/>
                  </a:lnTo>
                  <a:cubicBezTo>
                    <a:pt x="1222304" y="0"/>
                    <a:pt x="1230471" y="3383"/>
                    <a:pt x="1236492" y="9404"/>
                  </a:cubicBezTo>
                  <a:cubicBezTo>
                    <a:pt x="1242514" y="15426"/>
                    <a:pt x="1245897" y="23593"/>
                    <a:pt x="1245897" y="32109"/>
                  </a:cubicBezTo>
                  <a:lnTo>
                    <a:pt x="1245897" y="604205"/>
                  </a:lnTo>
                  <a:cubicBezTo>
                    <a:pt x="1245897" y="621938"/>
                    <a:pt x="1231521" y="636313"/>
                    <a:pt x="1213788" y="636313"/>
                  </a:cubicBezTo>
                  <a:lnTo>
                    <a:pt x="32109" y="636313"/>
                  </a:lnTo>
                  <a:cubicBezTo>
                    <a:pt x="14376" y="636313"/>
                    <a:pt x="0" y="621938"/>
                    <a:pt x="0" y="604205"/>
                  </a:cubicBezTo>
                  <a:lnTo>
                    <a:pt x="0" y="32109"/>
                  </a:lnTo>
                  <a:cubicBezTo>
                    <a:pt x="0" y="23593"/>
                    <a:pt x="3383" y="15426"/>
                    <a:pt x="9404" y="9404"/>
                  </a:cubicBezTo>
                  <a:cubicBezTo>
                    <a:pt x="15426" y="3383"/>
                    <a:pt x="23593" y="0"/>
                    <a:pt x="32109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1245897" cy="712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742788" y="2219719"/>
            <a:ext cx="412755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RECOGIDA Y MANIPULACIÓN </a:t>
            </a:r>
          </a:p>
        </p:txBody>
      </p:sp>
      <p:sp>
        <p:nvSpPr>
          <p:cNvPr name="AutoShape 22" id="22"/>
          <p:cNvSpPr/>
          <p:nvPr/>
        </p:nvSpPr>
        <p:spPr>
          <a:xfrm>
            <a:off x="7242818" y="3359397"/>
            <a:ext cx="1411122" cy="1578459"/>
          </a:xfrm>
          <a:prstGeom prst="line">
            <a:avLst/>
          </a:prstGeom>
          <a:ln cap="flat" w="28575">
            <a:solidFill>
              <a:srgbClr val="73ED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23" id="23"/>
          <p:cNvSpPr/>
          <p:nvPr/>
        </p:nvSpPr>
        <p:spPr>
          <a:xfrm flipH="true">
            <a:off x="9611754" y="3359397"/>
            <a:ext cx="1406421" cy="1578459"/>
          </a:xfrm>
          <a:prstGeom prst="line">
            <a:avLst/>
          </a:prstGeom>
          <a:ln cap="flat" w="28575">
            <a:solidFill>
              <a:srgbClr val="73ED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2599153" y="2561628"/>
            <a:ext cx="4458847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Solicitud de datos Idealista</a:t>
            </a:r>
          </a:p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Encuesta Ciudadana</a:t>
            </a:r>
          </a:p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Datos demográficos distritos</a:t>
            </a:r>
          </a:p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Datos movilidad y seguridad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018175" y="2127954"/>
            <a:ext cx="4822650" cy="2462887"/>
            <a:chOff x="0" y="0"/>
            <a:chExt cx="1245983" cy="63631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45983" cy="636313"/>
            </a:xfrm>
            <a:custGeom>
              <a:avLst/>
              <a:gdLst/>
              <a:ahLst/>
              <a:cxnLst/>
              <a:rect r="r" b="b" t="t" l="l"/>
              <a:pathLst>
                <a:path h="636313" w="1245983">
                  <a:moveTo>
                    <a:pt x="32106" y="0"/>
                  </a:moveTo>
                  <a:lnTo>
                    <a:pt x="1213877" y="0"/>
                  </a:lnTo>
                  <a:cubicBezTo>
                    <a:pt x="1222392" y="0"/>
                    <a:pt x="1230558" y="3383"/>
                    <a:pt x="1236579" y="9404"/>
                  </a:cubicBezTo>
                  <a:cubicBezTo>
                    <a:pt x="1242601" y="15425"/>
                    <a:pt x="1245983" y="23591"/>
                    <a:pt x="1245983" y="32106"/>
                  </a:cubicBezTo>
                  <a:lnTo>
                    <a:pt x="1245983" y="604207"/>
                  </a:lnTo>
                  <a:cubicBezTo>
                    <a:pt x="1245983" y="621939"/>
                    <a:pt x="1231609" y="636313"/>
                    <a:pt x="1213877" y="636313"/>
                  </a:cubicBezTo>
                  <a:lnTo>
                    <a:pt x="32106" y="636313"/>
                  </a:lnTo>
                  <a:cubicBezTo>
                    <a:pt x="14375" y="636313"/>
                    <a:pt x="0" y="621939"/>
                    <a:pt x="0" y="604207"/>
                  </a:cubicBezTo>
                  <a:lnTo>
                    <a:pt x="0" y="32106"/>
                  </a:lnTo>
                  <a:cubicBezTo>
                    <a:pt x="0" y="23591"/>
                    <a:pt x="3383" y="15425"/>
                    <a:pt x="9404" y="9404"/>
                  </a:cubicBezTo>
                  <a:cubicBezTo>
                    <a:pt x="15425" y="3383"/>
                    <a:pt x="23591" y="0"/>
                    <a:pt x="32106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45983" cy="674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393136" y="2219719"/>
            <a:ext cx="391168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ANALÍTICA Y ALGORITMICA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336131" y="2467369"/>
            <a:ext cx="4359570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Análisis Exploratorio</a:t>
            </a:r>
          </a:p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Reducción dimensionalidad PCA</a:t>
            </a:r>
          </a:p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Modelo de Clustering </a:t>
            </a:r>
          </a:p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Modelos predicción precio </a:t>
            </a:r>
          </a:p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Modelo CatBoost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2420502" y="6895909"/>
            <a:ext cx="4822316" cy="2463557"/>
            <a:chOff x="0" y="0"/>
            <a:chExt cx="1245897" cy="63648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45897" cy="636486"/>
            </a:xfrm>
            <a:custGeom>
              <a:avLst/>
              <a:gdLst/>
              <a:ahLst/>
              <a:cxnLst/>
              <a:rect r="r" b="b" t="t" l="l"/>
              <a:pathLst>
                <a:path h="636486" w="1245897">
                  <a:moveTo>
                    <a:pt x="32109" y="0"/>
                  </a:moveTo>
                  <a:lnTo>
                    <a:pt x="1213788" y="0"/>
                  </a:lnTo>
                  <a:cubicBezTo>
                    <a:pt x="1222304" y="0"/>
                    <a:pt x="1230471" y="3383"/>
                    <a:pt x="1236492" y="9404"/>
                  </a:cubicBezTo>
                  <a:cubicBezTo>
                    <a:pt x="1242514" y="15426"/>
                    <a:pt x="1245897" y="23593"/>
                    <a:pt x="1245897" y="32109"/>
                  </a:cubicBezTo>
                  <a:lnTo>
                    <a:pt x="1245897" y="604378"/>
                  </a:lnTo>
                  <a:cubicBezTo>
                    <a:pt x="1245897" y="622111"/>
                    <a:pt x="1231521" y="636486"/>
                    <a:pt x="1213788" y="636486"/>
                  </a:cubicBezTo>
                  <a:lnTo>
                    <a:pt x="32109" y="636486"/>
                  </a:lnTo>
                  <a:cubicBezTo>
                    <a:pt x="14376" y="636486"/>
                    <a:pt x="0" y="622111"/>
                    <a:pt x="0" y="604378"/>
                  </a:cubicBezTo>
                  <a:lnTo>
                    <a:pt x="0" y="32109"/>
                  </a:lnTo>
                  <a:cubicBezTo>
                    <a:pt x="0" y="23593"/>
                    <a:pt x="3383" y="15426"/>
                    <a:pt x="9404" y="9404"/>
                  </a:cubicBezTo>
                  <a:cubicBezTo>
                    <a:pt x="15426" y="3383"/>
                    <a:pt x="23593" y="0"/>
                    <a:pt x="32109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245897" cy="674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3" id="33"/>
          <p:cNvSpPr/>
          <p:nvPr/>
        </p:nvSpPr>
        <p:spPr>
          <a:xfrm flipV="true">
            <a:off x="7242818" y="6418528"/>
            <a:ext cx="1411122" cy="1709160"/>
          </a:xfrm>
          <a:prstGeom prst="line">
            <a:avLst/>
          </a:prstGeom>
          <a:ln cap="flat" w="28575">
            <a:solidFill>
              <a:srgbClr val="73EDFF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34" id="34"/>
          <p:cNvSpPr/>
          <p:nvPr/>
        </p:nvSpPr>
        <p:spPr>
          <a:xfrm flipH="true" flipV="true">
            <a:off x="9611754" y="6418528"/>
            <a:ext cx="1406421" cy="1709160"/>
          </a:xfrm>
          <a:prstGeom prst="line">
            <a:avLst/>
          </a:prstGeom>
          <a:ln cap="flat" w="28575">
            <a:solidFill>
              <a:srgbClr val="73EDFF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35" id="35"/>
          <p:cNvGrpSpPr/>
          <p:nvPr/>
        </p:nvGrpSpPr>
        <p:grpSpPr>
          <a:xfrm rot="0">
            <a:off x="11018175" y="6895909"/>
            <a:ext cx="4822650" cy="2463557"/>
            <a:chOff x="0" y="0"/>
            <a:chExt cx="1245983" cy="6364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45983" cy="636486"/>
            </a:xfrm>
            <a:custGeom>
              <a:avLst/>
              <a:gdLst/>
              <a:ahLst/>
              <a:cxnLst/>
              <a:rect r="r" b="b" t="t" l="l"/>
              <a:pathLst>
                <a:path h="636486" w="1245983">
                  <a:moveTo>
                    <a:pt x="32106" y="0"/>
                  </a:moveTo>
                  <a:lnTo>
                    <a:pt x="1213877" y="0"/>
                  </a:lnTo>
                  <a:cubicBezTo>
                    <a:pt x="1222392" y="0"/>
                    <a:pt x="1230558" y="3383"/>
                    <a:pt x="1236579" y="9404"/>
                  </a:cubicBezTo>
                  <a:cubicBezTo>
                    <a:pt x="1242601" y="15425"/>
                    <a:pt x="1245983" y="23591"/>
                    <a:pt x="1245983" y="32106"/>
                  </a:cubicBezTo>
                  <a:lnTo>
                    <a:pt x="1245983" y="604380"/>
                  </a:lnTo>
                  <a:cubicBezTo>
                    <a:pt x="1245983" y="612895"/>
                    <a:pt x="1242601" y="621061"/>
                    <a:pt x="1236579" y="627083"/>
                  </a:cubicBezTo>
                  <a:cubicBezTo>
                    <a:pt x="1230558" y="633104"/>
                    <a:pt x="1222392" y="636486"/>
                    <a:pt x="1213877" y="636486"/>
                  </a:cubicBezTo>
                  <a:lnTo>
                    <a:pt x="32106" y="636486"/>
                  </a:lnTo>
                  <a:cubicBezTo>
                    <a:pt x="14375" y="636486"/>
                    <a:pt x="0" y="622112"/>
                    <a:pt x="0" y="604380"/>
                  </a:cubicBezTo>
                  <a:lnTo>
                    <a:pt x="0" y="32106"/>
                  </a:lnTo>
                  <a:cubicBezTo>
                    <a:pt x="0" y="23591"/>
                    <a:pt x="3383" y="15425"/>
                    <a:pt x="9404" y="9404"/>
                  </a:cubicBezTo>
                  <a:cubicBezTo>
                    <a:pt x="15425" y="3383"/>
                    <a:pt x="23591" y="0"/>
                    <a:pt x="32106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245983" cy="674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947112" y="7056703"/>
            <a:ext cx="376909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4"/>
              </a:lnSpc>
            </a:pPr>
            <a:r>
              <a:rPr lang="en-US" b="true" sz="202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ÉTICA Y LEGALIDAD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21600" y="7483400"/>
            <a:ext cx="4169927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Tratamiento de datos sensibles</a:t>
            </a:r>
          </a:p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Cumplimiento normativo</a:t>
            </a:r>
          </a:p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Análisis de impacto </a:t>
            </a:r>
          </a:p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Lenguaje inclusivo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336131" y="7364961"/>
            <a:ext cx="4025699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Memoria</a:t>
            </a:r>
          </a:p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Aplicación de Visualización </a:t>
            </a:r>
          </a:p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Presentación en vídeo</a:t>
            </a:r>
          </a:p>
          <a:p>
            <a:pPr algn="just" marL="431801" indent="-215900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Jupyter Notebook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163299" y="7056703"/>
            <a:ext cx="45324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ARQUITECTURA Y VISUALIZACIÓN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19184" y="1823700"/>
            <a:ext cx="57523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Objetivos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19184" y="2792095"/>
            <a:ext cx="11265543" cy="606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La</a:t>
            </a: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 preguntas a las que se obtendrían respuesta son: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• ¿En qué distrito puedo residir en función de mis ingresos?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• ¿Qué distrito se adapta mejor a mis necesidades de movilidad?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• ¿Qué distrito se adapta mejor a mis preferencias?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• ¿Qué distrito es una oportunidad para invertir?</a:t>
            </a:r>
          </a:p>
          <a:p>
            <a:pPr algn="just">
              <a:lnSpc>
                <a:spcPts val="3219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4470472" y="2652364"/>
            <a:ext cx="2788828" cy="1097930"/>
            <a:chOff x="0" y="0"/>
            <a:chExt cx="720523" cy="2836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0523" cy="283662"/>
            </a:xfrm>
            <a:custGeom>
              <a:avLst/>
              <a:gdLst/>
              <a:ahLst/>
              <a:cxnLst/>
              <a:rect r="r" b="b" t="t" l="l"/>
              <a:pathLst>
                <a:path h="283662" w="720523">
                  <a:moveTo>
                    <a:pt x="55521" y="0"/>
                  </a:moveTo>
                  <a:lnTo>
                    <a:pt x="665003" y="0"/>
                  </a:lnTo>
                  <a:cubicBezTo>
                    <a:pt x="695666" y="0"/>
                    <a:pt x="720523" y="24858"/>
                    <a:pt x="720523" y="55521"/>
                  </a:cubicBezTo>
                  <a:lnTo>
                    <a:pt x="720523" y="228141"/>
                  </a:lnTo>
                  <a:cubicBezTo>
                    <a:pt x="720523" y="258804"/>
                    <a:pt x="695666" y="283662"/>
                    <a:pt x="665003" y="283662"/>
                  </a:cubicBezTo>
                  <a:lnTo>
                    <a:pt x="55521" y="283662"/>
                  </a:lnTo>
                  <a:cubicBezTo>
                    <a:pt x="24858" y="283662"/>
                    <a:pt x="0" y="258804"/>
                    <a:pt x="0" y="228141"/>
                  </a:cubicBezTo>
                  <a:lnTo>
                    <a:pt x="0" y="55521"/>
                  </a:lnTo>
                  <a:cubicBezTo>
                    <a:pt x="0" y="24858"/>
                    <a:pt x="24858" y="0"/>
                    <a:pt x="55521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20523" cy="321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Obtención de datos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470472" y="4045570"/>
            <a:ext cx="2788828" cy="1097930"/>
            <a:chOff x="0" y="0"/>
            <a:chExt cx="720523" cy="2836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0523" cy="283662"/>
            </a:xfrm>
            <a:custGeom>
              <a:avLst/>
              <a:gdLst/>
              <a:ahLst/>
              <a:cxnLst/>
              <a:rect r="r" b="b" t="t" l="l"/>
              <a:pathLst>
                <a:path h="283662" w="720523">
                  <a:moveTo>
                    <a:pt x="55521" y="0"/>
                  </a:moveTo>
                  <a:lnTo>
                    <a:pt x="665003" y="0"/>
                  </a:lnTo>
                  <a:cubicBezTo>
                    <a:pt x="695666" y="0"/>
                    <a:pt x="720523" y="24858"/>
                    <a:pt x="720523" y="55521"/>
                  </a:cubicBezTo>
                  <a:lnTo>
                    <a:pt x="720523" y="228141"/>
                  </a:lnTo>
                  <a:cubicBezTo>
                    <a:pt x="720523" y="258804"/>
                    <a:pt x="695666" y="283662"/>
                    <a:pt x="665003" y="283662"/>
                  </a:cubicBezTo>
                  <a:lnTo>
                    <a:pt x="55521" y="283662"/>
                  </a:lnTo>
                  <a:cubicBezTo>
                    <a:pt x="24858" y="283662"/>
                    <a:pt x="0" y="258804"/>
                    <a:pt x="0" y="228141"/>
                  </a:cubicBezTo>
                  <a:lnTo>
                    <a:pt x="0" y="55521"/>
                  </a:lnTo>
                  <a:cubicBezTo>
                    <a:pt x="0" y="24858"/>
                    <a:pt x="24858" y="0"/>
                    <a:pt x="55521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20523" cy="321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Visualización servicios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470472" y="5480718"/>
            <a:ext cx="2788828" cy="1097930"/>
            <a:chOff x="0" y="0"/>
            <a:chExt cx="720523" cy="2836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0523" cy="283662"/>
            </a:xfrm>
            <a:custGeom>
              <a:avLst/>
              <a:gdLst/>
              <a:ahLst/>
              <a:cxnLst/>
              <a:rect r="r" b="b" t="t" l="l"/>
              <a:pathLst>
                <a:path h="283662" w="720523">
                  <a:moveTo>
                    <a:pt x="55521" y="0"/>
                  </a:moveTo>
                  <a:lnTo>
                    <a:pt x="665003" y="0"/>
                  </a:lnTo>
                  <a:cubicBezTo>
                    <a:pt x="695666" y="0"/>
                    <a:pt x="720523" y="24858"/>
                    <a:pt x="720523" y="55521"/>
                  </a:cubicBezTo>
                  <a:lnTo>
                    <a:pt x="720523" y="228141"/>
                  </a:lnTo>
                  <a:cubicBezTo>
                    <a:pt x="720523" y="258804"/>
                    <a:pt x="695666" y="283662"/>
                    <a:pt x="665003" y="283662"/>
                  </a:cubicBezTo>
                  <a:lnTo>
                    <a:pt x="55521" y="283662"/>
                  </a:lnTo>
                  <a:cubicBezTo>
                    <a:pt x="24858" y="283662"/>
                    <a:pt x="0" y="258804"/>
                    <a:pt x="0" y="228141"/>
                  </a:cubicBezTo>
                  <a:lnTo>
                    <a:pt x="0" y="55521"/>
                  </a:lnTo>
                  <a:cubicBezTo>
                    <a:pt x="0" y="24858"/>
                    <a:pt x="24858" y="0"/>
                    <a:pt x="55521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20523" cy="321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 Clustering Distrito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470472" y="8267129"/>
            <a:ext cx="2788828" cy="1097930"/>
            <a:chOff x="0" y="0"/>
            <a:chExt cx="720523" cy="2836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523" cy="283662"/>
            </a:xfrm>
            <a:custGeom>
              <a:avLst/>
              <a:gdLst/>
              <a:ahLst/>
              <a:cxnLst/>
              <a:rect r="r" b="b" t="t" l="l"/>
              <a:pathLst>
                <a:path h="283662" w="720523">
                  <a:moveTo>
                    <a:pt x="55521" y="0"/>
                  </a:moveTo>
                  <a:lnTo>
                    <a:pt x="665003" y="0"/>
                  </a:lnTo>
                  <a:cubicBezTo>
                    <a:pt x="695666" y="0"/>
                    <a:pt x="720523" y="24858"/>
                    <a:pt x="720523" y="55521"/>
                  </a:cubicBezTo>
                  <a:lnTo>
                    <a:pt x="720523" y="228141"/>
                  </a:lnTo>
                  <a:cubicBezTo>
                    <a:pt x="720523" y="258804"/>
                    <a:pt x="695666" y="283662"/>
                    <a:pt x="665003" y="283662"/>
                  </a:cubicBezTo>
                  <a:lnTo>
                    <a:pt x="55521" y="283662"/>
                  </a:lnTo>
                  <a:cubicBezTo>
                    <a:pt x="24858" y="283662"/>
                    <a:pt x="0" y="258804"/>
                    <a:pt x="0" y="228141"/>
                  </a:cubicBezTo>
                  <a:lnTo>
                    <a:pt x="0" y="55521"/>
                  </a:lnTo>
                  <a:cubicBezTo>
                    <a:pt x="0" y="24858"/>
                    <a:pt x="24858" y="0"/>
                    <a:pt x="55521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20523" cy="321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Aplicación interactiva 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470472" y="6873924"/>
            <a:ext cx="2788828" cy="1097930"/>
            <a:chOff x="0" y="0"/>
            <a:chExt cx="720523" cy="2836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0523" cy="283662"/>
            </a:xfrm>
            <a:custGeom>
              <a:avLst/>
              <a:gdLst/>
              <a:ahLst/>
              <a:cxnLst/>
              <a:rect r="r" b="b" t="t" l="l"/>
              <a:pathLst>
                <a:path h="283662" w="720523">
                  <a:moveTo>
                    <a:pt x="55521" y="0"/>
                  </a:moveTo>
                  <a:lnTo>
                    <a:pt x="665003" y="0"/>
                  </a:lnTo>
                  <a:cubicBezTo>
                    <a:pt x="695666" y="0"/>
                    <a:pt x="720523" y="24858"/>
                    <a:pt x="720523" y="55521"/>
                  </a:cubicBezTo>
                  <a:lnTo>
                    <a:pt x="720523" y="228141"/>
                  </a:lnTo>
                  <a:cubicBezTo>
                    <a:pt x="720523" y="258804"/>
                    <a:pt x="695666" y="283662"/>
                    <a:pt x="665003" y="283662"/>
                  </a:cubicBezTo>
                  <a:lnTo>
                    <a:pt x="55521" y="283662"/>
                  </a:lnTo>
                  <a:cubicBezTo>
                    <a:pt x="24858" y="283662"/>
                    <a:pt x="0" y="258804"/>
                    <a:pt x="0" y="228141"/>
                  </a:cubicBezTo>
                  <a:lnTo>
                    <a:pt x="0" y="55521"/>
                  </a:lnTo>
                  <a:cubicBezTo>
                    <a:pt x="0" y="24858"/>
                    <a:pt x="24858" y="0"/>
                    <a:pt x="55521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20523" cy="321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Predicción de precio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46091" y="1842850"/>
            <a:ext cx="6455384" cy="7561211"/>
          </a:xfrm>
          <a:custGeom>
            <a:avLst/>
            <a:gdLst/>
            <a:ahLst/>
            <a:cxnLst/>
            <a:rect r="r" b="b" t="t" l="l"/>
            <a:pathLst>
              <a:path h="7561211" w="6455384">
                <a:moveTo>
                  <a:pt x="0" y="0"/>
                </a:moveTo>
                <a:lnTo>
                  <a:pt x="6455384" y="0"/>
                </a:lnTo>
                <a:lnTo>
                  <a:pt x="6455384" y="7561211"/>
                </a:lnTo>
                <a:lnTo>
                  <a:pt x="0" y="7561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19184" y="2879805"/>
            <a:ext cx="7828296" cy="6476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</a:pPr>
            <a:r>
              <a:rPr lang="en-US" sz="2844" b="true">
                <a:solidFill>
                  <a:srgbClr val="FFFFFE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Encuesta Ajuntament Barcelona</a:t>
            </a:r>
          </a:p>
          <a:p>
            <a:pPr algn="l">
              <a:lnSpc>
                <a:spcPts val="3413"/>
              </a:lnSpc>
            </a:pPr>
          </a:p>
          <a:p>
            <a:pPr algn="l">
              <a:lnSpc>
                <a:spcPts val="3413"/>
              </a:lnSpc>
            </a:pPr>
          </a:p>
          <a:p>
            <a:pPr algn="l">
              <a:lnSpc>
                <a:spcPts val="3413"/>
              </a:lnSpc>
            </a:pPr>
            <a:r>
              <a:rPr lang="en-US" sz="2844" b="true">
                <a:solidFill>
                  <a:srgbClr val="FFFFFE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Datos movilidad Open Data BCN</a:t>
            </a:r>
          </a:p>
          <a:p>
            <a:pPr algn="l">
              <a:lnSpc>
                <a:spcPts val="3413"/>
              </a:lnSpc>
            </a:pPr>
          </a:p>
          <a:p>
            <a:pPr algn="l">
              <a:lnSpc>
                <a:spcPts val="3413"/>
              </a:lnSpc>
            </a:pPr>
          </a:p>
          <a:p>
            <a:pPr algn="l">
              <a:lnSpc>
                <a:spcPts val="3413"/>
              </a:lnSpc>
            </a:pPr>
            <a:r>
              <a:rPr lang="en-US" sz="2844" b="true">
                <a:solidFill>
                  <a:srgbClr val="FFFFFE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Datos seguridad Open Data BCN</a:t>
            </a:r>
          </a:p>
          <a:p>
            <a:pPr algn="l">
              <a:lnSpc>
                <a:spcPts val="3413"/>
              </a:lnSpc>
            </a:pPr>
          </a:p>
          <a:p>
            <a:pPr algn="l">
              <a:lnSpc>
                <a:spcPts val="3413"/>
              </a:lnSpc>
            </a:pPr>
          </a:p>
          <a:p>
            <a:pPr algn="l">
              <a:lnSpc>
                <a:spcPts val="3413"/>
              </a:lnSpc>
            </a:pPr>
            <a:r>
              <a:rPr lang="en-US" sz="2844" b="true">
                <a:solidFill>
                  <a:srgbClr val="FFFFFE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Datos demográficos Open Data BCN</a:t>
            </a:r>
          </a:p>
          <a:p>
            <a:pPr algn="l">
              <a:lnSpc>
                <a:spcPts val="3413"/>
              </a:lnSpc>
            </a:pPr>
          </a:p>
          <a:p>
            <a:pPr algn="l">
              <a:lnSpc>
                <a:spcPts val="3413"/>
              </a:lnSpc>
            </a:pPr>
          </a:p>
          <a:p>
            <a:pPr algn="l">
              <a:lnSpc>
                <a:spcPts val="3413"/>
              </a:lnSpc>
            </a:pPr>
            <a:r>
              <a:rPr lang="en-US" sz="2844" b="true">
                <a:solidFill>
                  <a:srgbClr val="FFFFFE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Datos inmuebles API Idealista</a:t>
            </a:r>
          </a:p>
          <a:p>
            <a:pPr algn="l">
              <a:lnSpc>
                <a:spcPts val="3413"/>
              </a:lnSpc>
            </a:pPr>
          </a:p>
          <a:p>
            <a:pPr algn="just">
              <a:lnSpc>
                <a:spcPts val="321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421348" y="1823700"/>
            <a:ext cx="57523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Obtención de datos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19184" y="1823700"/>
            <a:ext cx="606253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Análisis Exploratorio EDA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88763" y="3308685"/>
            <a:ext cx="7607839" cy="5266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Características de los datasets: 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Validación de datos de cada dataset, </a:t>
            </a: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número de filas, columnas, formato de los datos, existencia de valores nulos o duplicados. 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Investigación:</a:t>
            </a: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Descubrir patrones o anomalías, revelar estructuras subyacentes,  planteamiento de preguntas y  líneas de desarrollo.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19184" y="1823700"/>
            <a:ext cx="837412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Reducción de dimensionalidad PCA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19184" y="2814300"/>
            <a:ext cx="8703067" cy="676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Un total de 46 variables representadas en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5 Componenetes principales 91.12% de la varianza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PC1 — Intensidad urbana, movilidad e inseguridad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PC2 — Nivel económico y educativo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PC3 — Zona residencial y transporte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PC4 — Conectividad de transporte público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PC5 — Actividad comercial, núcleo urbano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858347" y="2429452"/>
            <a:ext cx="9083012" cy="7232348"/>
          </a:xfrm>
          <a:custGeom>
            <a:avLst/>
            <a:gdLst/>
            <a:ahLst/>
            <a:cxnLst/>
            <a:rect r="r" b="b" t="t" l="l"/>
            <a:pathLst>
              <a:path h="7232348" w="9083012">
                <a:moveTo>
                  <a:pt x="0" y="0"/>
                </a:moveTo>
                <a:lnTo>
                  <a:pt x="9083012" y="0"/>
                </a:lnTo>
                <a:lnTo>
                  <a:pt x="9083012" y="7232348"/>
                </a:lnTo>
                <a:lnTo>
                  <a:pt x="0" y="7232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20502" y="1823700"/>
            <a:ext cx="606253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Variables y PCA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16033" y="2053603"/>
            <a:ext cx="4977095" cy="3653221"/>
          </a:xfrm>
          <a:custGeom>
            <a:avLst/>
            <a:gdLst/>
            <a:ahLst/>
            <a:cxnLst/>
            <a:rect r="r" b="b" t="t" l="l"/>
            <a:pathLst>
              <a:path h="3653221" w="4977095">
                <a:moveTo>
                  <a:pt x="0" y="0"/>
                </a:moveTo>
                <a:lnTo>
                  <a:pt x="4977095" y="0"/>
                </a:lnTo>
                <a:lnTo>
                  <a:pt x="4977095" y="3653221"/>
                </a:lnTo>
                <a:lnTo>
                  <a:pt x="0" y="36532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216033" y="5803508"/>
            <a:ext cx="4982793" cy="3761607"/>
          </a:xfrm>
          <a:custGeom>
            <a:avLst/>
            <a:gdLst/>
            <a:ahLst/>
            <a:cxnLst/>
            <a:rect r="r" b="b" t="t" l="l"/>
            <a:pathLst>
              <a:path h="3761607" w="4982793">
                <a:moveTo>
                  <a:pt x="0" y="0"/>
                </a:moveTo>
                <a:lnTo>
                  <a:pt x="4982793" y="0"/>
                </a:lnTo>
                <a:lnTo>
                  <a:pt x="4982793" y="3761608"/>
                </a:lnTo>
                <a:lnTo>
                  <a:pt x="0" y="37616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20502" y="3459559"/>
            <a:ext cx="6921901" cy="444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Segmentación de distritos: 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Clusterizar distritos con características similares mediante algoritmo K-means.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Obtención de número de grupos mediante Elbow y Silhouette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Se obtienen 3 grupos de distritos </a:t>
            </a:r>
          </a:p>
          <a:p>
            <a:pPr algn="just">
              <a:lnSpc>
                <a:spcPts val="3000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20502" y="1823700"/>
            <a:ext cx="606253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Clusterización Distritos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77900" y="575300"/>
            <a:ext cx="603250" cy="128400"/>
          </a:xfrm>
          <a:custGeom>
            <a:avLst/>
            <a:gdLst/>
            <a:ahLst/>
            <a:cxnLst/>
            <a:rect r="r" b="b" t="t" l="l"/>
            <a:pathLst>
              <a:path h="128400" w="603250">
                <a:moveTo>
                  <a:pt x="0" y="0"/>
                </a:moveTo>
                <a:lnTo>
                  <a:pt x="603250" y="0"/>
                </a:lnTo>
                <a:lnTo>
                  <a:pt x="603250" y="128400"/>
                </a:lnTo>
                <a:lnTo>
                  <a:pt x="0" y="128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" t="0" r="-1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" t="0" r="-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22194" y="4885520"/>
            <a:ext cx="7258524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Distritos conflictivos d</a:t>
            </a:r>
            <a:r>
              <a:rPr lang="en-US" sz="2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 clase obrera, </a:t>
            </a:r>
          </a:p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con poca expectativa en el distrito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AutoShape 15" id="15"/>
          <p:cNvSpPr/>
          <p:nvPr/>
        </p:nvSpPr>
        <p:spPr>
          <a:xfrm>
            <a:off x="2422194" y="4453746"/>
            <a:ext cx="11951141" cy="0"/>
          </a:xfrm>
          <a:prstGeom prst="line">
            <a:avLst/>
          </a:prstGeom>
          <a:ln cap="flat" w="9525">
            <a:solidFill>
              <a:srgbClr val="73EDFF">
                <a:alpha val="74902"/>
              </a:srgbClr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2422194" y="6305720"/>
            <a:ext cx="11951141" cy="0"/>
          </a:xfrm>
          <a:prstGeom prst="line">
            <a:avLst/>
          </a:prstGeom>
          <a:ln cap="flat" w="9525">
            <a:solidFill>
              <a:srgbClr val="73EDFF">
                <a:alpha val="74902"/>
              </a:srgbClr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2421348" y="8241008"/>
            <a:ext cx="11951141" cy="0"/>
          </a:xfrm>
          <a:prstGeom prst="line">
            <a:avLst/>
          </a:prstGeom>
          <a:ln cap="flat" w="9525">
            <a:solidFill>
              <a:srgbClr val="73EDFF">
                <a:alpha val="74902"/>
              </a:srgbClr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2477213" y="2951104"/>
            <a:ext cx="1830467" cy="1364530"/>
          </a:xfrm>
          <a:custGeom>
            <a:avLst/>
            <a:gdLst/>
            <a:ahLst/>
            <a:cxnLst/>
            <a:rect r="r" b="b" t="t" l="l"/>
            <a:pathLst>
              <a:path h="1364530" w="1830467">
                <a:moveTo>
                  <a:pt x="0" y="0"/>
                </a:moveTo>
                <a:lnTo>
                  <a:pt x="1830467" y="0"/>
                </a:lnTo>
                <a:lnTo>
                  <a:pt x="1830467" y="1364530"/>
                </a:lnTo>
                <a:lnTo>
                  <a:pt x="0" y="13645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542869" y="4590659"/>
            <a:ext cx="1699155" cy="1717896"/>
          </a:xfrm>
          <a:custGeom>
            <a:avLst/>
            <a:gdLst/>
            <a:ahLst/>
            <a:cxnLst/>
            <a:rect r="r" b="b" t="t" l="l"/>
            <a:pathLst>
              <a:path h="1717896" w="1699155">
                <a:moveTo>
                  <a:pt x="0" y="0"/>
                </a:moveTo>
                <a:lnTo>
                  <a:pt x="1699155" y="0"/>
                </a:lnTo>
                <a:lnTo>
                  <a:pt x="1699155" y="1717896"/>
                </a:lnTo>
                <a:lnTo>
                  <a:pt x="0" y="17178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611155" y="6539083"/>
            <a:ext cx="1630869" cy="1426269"/>
          </a:xfrm>
          <a:custGeom>
            <a:avLst/>
            <a:gdLst/>
            <a:ahLst/>
            <a:cxnLst/>
            <a:rect r="r" b="b" t="t" l="l"/>
            <a:pathLst>
              <a:path h="1426269" w="1630869">
                <a:moveTo>
                  <a:pt x="0" y="0"/>
                </a:moveTo>
                <a:lnTo>
                  <a:pt x="1630869" y="0"/>
                </a:lnTo>
                <a:lnTo>
                  <a:pt x="1630869" y="1426269"/>
                </a:lnTo>
                <a:lnTo>
                  <a:pt x="0" y="14262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21348" y="3353609"/>
            <a:ext cx="8680574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Distritos de clase alta, acomodados.</a:t>
            </a:r>
          </a:p>
          <a:p>
            <a:pPr algn="l">
              <a:lnSpc>
                <a:spcPts val="359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422194" y="6670336"/>
            <a:ext cx="9331019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Distritos de clase media b</a:t>
            </a:r>
            <a:r>
              <a:rPr lang="en-US" sz="2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aja, </a:t>
            </a:r>
          </a:p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con poca renta y nivel de estudios. </a:t>
            </a:r>
          </a:p>
          <a:p>
            <a:pPr algn="just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326752" y="3086100"/>
            <a:ext cx="4932548" cy="3488657"/>
          </a:xfrm>
          <a:custGeom>
            <a:avLst/>
            <a:gdLst/>
            <a:ahLst/>
            <a:cxnLst/>
            <a:rect r="r" b="b" t="t" l="l"/>
            <a:pathLst>
              <a:path h="3488657" w="4932548">
                <a:moveTo>
                  <a:pt x="0" y="0"/>
                </a:moveTo>
                <a:lnTo>
                  <a:pt x="4932548" y="0"/>
                </a:lnTo>
                <a:lnTo>
                  <a:pt x="4932548" y="3488657"/>
                </a:lnTo>
                <a:lnTo>
                  <a:pt x="0" y="34886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2420502" y="1823700"/>
            <a:ext cx="803621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Modelos de predicción de precio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21348" y="3747750"/>
            <a:ext cx="8836201" cy="364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Ridge: Modelo Lineal regularizado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Random Forest: Modelo basado en árboles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XGBoost: Modelo boosting de árboles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CatBoost: Modelo boosting con variables categóricas</a:t>
            </a:r>
          </a:p>
          <a:p>
            <a:pPr algn="just">
              <a:lnSpc>
                <a:spcPts val="3000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858347" y="2746666"/>
            <a:ext cx="10740443" cy="6390563"/>
          </a:xfrm>
          <a:custGeom>
            <a:avLst/>
            <a:gdLst/>
            <a:ahLst/>
            <a:cxnLst/>
            <a:rect r="r" b="b" t="t" l="l"/>
            <a:pathLst>
              <a:path h="6390563" w="10740443">
                <a:moveTo>
                  <a:pt x="0" y="0"/>
                </a:moveTo>
                <a:lnTo>
                  <a:pt x="10740443" y="0"/>
                </a:lnTo>
                <a:lnTo>
                  <a:pt x="10740443" y="6390563"/>
                </a:lnTo>
                <a:lnTo>
                  <a:pt x="0" y="63905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19184" y="1823700"/>
            <a:ext cx="951029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Resultados Modelos de predicción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202451" y="2528550"/>
            <a:ext cx="10276694" cy="6745823"/>
          </a:xfrm>
          <a:custGeom>
            <a:avLst/>
            <a:gdLst/>
            <a:ahLst/>
            <a:cxnLst/>
            <a:rect r="r" b="b" t="t" l="l"/>
            <a:pathLst>
              <a:path h="6745823" w="10276694">
                <a:moveTo>
                  <a:pt x="0" y="0"/>
                </a:moveTo>
                <a:lnTo>
                  <a:pt x="10276695" y="0"/>
                </a:lnTo>
                <a:lnTo>
                  <a:pt x="10276695" y="6745823"/>
                </a:lnTo>
                <a:lnTo>
                  <a:pt x="0" y="67458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19184" y="1823700"/>
            <a:ext cx="57523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Elección Mejor Modelo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51345" y="3698160"/>
            <a:ext cx="4851107" cy="3073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Modelo CatBoost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2415"/>
              </a:lnSpc>
            </a:pPr>
            <a:r>
              <a:rPr lang="en-US" sz="21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Mejor en 75% de los datos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Modelo XGBoost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2415"/>
              </a:lnSpc>
            </a:pPr>
            <a:r>
              <a:rPr lang="en-US" sz="21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Mejor en precio alto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96677" y="2754387"/>
            <a:ext cx="11471468" cy="6503913"/>
          </a:xfrm>
          <a:custGeom>
            <a:avLst/>
            <a:gdLst/>
            <a:ahLst/>
            <a:cxnLst/>
            <a:rect r="r" b="b" t="t" l="l"/>
            <a:pathLst>
              <a:path h="6503913" w="11471468">
                <a:moveTo>
                  <a:pt x="0" y="0"/>
                </a:moveTo>
                <a:lnTo>
                  <a:pt x="11471468" y="0"/>
                </a:lnTo>
                <a:lnTo>
                  <a:pt x="11471468" y="6503913"/>
                </a:lnTo>
                <a:lnTo>
                  <a:pt x="0" y="65039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19184" y="1823700"/>
            <a:ext cx="57523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Importancia de Variables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19184" y="1823700"/>
            <a:ext cx="57523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Valoración de resultados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886263" y="2698886"/>
            <a:ext cx="7603411" cy="5055258"/>
            <a:chOff x="0" y="0"/>
            <a:chExt cx="1964422" cy="1306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4422" cy="1306080"/>
            </a:xfrm>
            <a:custGeom>
              <a:avLst/>
              <a:gdLst/>
              <a:ahLst/>
              <a:cxnLst/>
              <a:rect r="r" b="b" t="t" l="l"/>
              <a:pathLst>
                <a:path h="1306080" w="1964422">
                  <a:moveTo>
                    <a:pt x="20364" y="0"/>
                  </a:moveTo>
                  <a:lnTo>
                    <a:pt x="1944058" y="0"/>
                  </a:lnTo>
                  <a:cubicBezTo>
                    <a:pt x="1955305" y="0"/>
                    <a:pt x="1964422" y="9117"/>
                    <a:pt x="1964422" y="20364"/>
                  </a:cubicBezTo>
                  <a:lnTo>
                    <a:pt x="1964422" y="1285716"/>
                  </a:lnTo>
                  <a:cubicBezTo>
                    <a:pt x="1964422" y="1296963"/>
                    <a:pt x="1955305" y="1306080"/>
                    <a:pt x="1944058" y="1306080"/>
                  </a:cubicBezTo>
                  <a:lnTo>
                    <a:pt x="20364" y="1306080"/>
                  </a:lnTo>
                  <a:cubicBezTo>
                    <a:pt x="9117" y="1306080"/>
                    <a:pt x="0" y="1296963"/>
                    <a:pt x="0" y="1285716"/>
                  </a:cubicBezTo>
                  <a:lnTo>
                    <a:pt x="0" y="20364"/>
                  </a:lnTo>
                  <a:cubicBezTo>
                    <a:pt x="0" y="9117"/>
                    <a:pt x="9117" y="0"/>
                    <a:pt x="20364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64422" cy="1353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 u="sng">
                  <a:solidFill>
                    <a:srgbClr val="FFFFFF"/>
                  </a:solidFill>
                  <a:latin typeface="Rosario Bold"/>
                  <a:ea typeface="Rosario Bold"/>
                  <a:cs typeface="Rosario Bold"/>
                  <a:sym typeface="Rosario Bold"/>
                </a:rPr>
                <a:t>Desarrollo descriptivo de distritos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Análisis Exploratorio de datos en profundidad 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Visualizaciones comparativas de distritos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Clusterización de distritos por similitud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Sistema recomendador de distrito</a:t>
              </a:r>
            </a:p>
            <a:p>
              <a:pPr algn="ctr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54358" y="2698886"/>
            <a:ext cx="7603411" cy="5055258"/>
            <a:chOff x="0" y="0"/>
            <a:chExt cx="1964422" cy="1306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64422" cy="1306080"/>
            </a:xfrm>
            <a:custGeom>
              <a:avLst/>
              <a:gdLst/>
              <a:ahLst/>
              <a:cxnLst/>
              <a:rect r="r" b="b" t="t" l="l"/>
              <a:pathLst>
                <a:path h="1306080" w="1964422">
                  <a:moveTo>
                    <a:pt x="20364" y="0"/>
                  </a:moveTo>
                  <a:lnTo>
                    <a:pt x="1944058" y="0"/>
                  </a:lnTo>
                  <a:cubicBezTo>
                    <a:pt x="1955305" y="0"/>
                    <a:pt x="1964422" y="9117"/>
                    <a:pt x="1964422" y="20364"/>
                  </a:cubicBezTo>
                  <a:lnTo>
                    <a:pt x="1964422" y="1285716"/>
                  </a:lnTo>
                  <a:cubicBezTo>
                    <a:pt x="1964422" y="1296963"/>
                    <a:pt x="1955305" y="1306080"/>
                    <a:pt x="1944058" y="1306080"/>
                  </a:cubicBezTo>
                  <a:lnTo>
                    <a:pt x="20364" y="1306080"/>
                  </a:lnTo>
                  <a:cubicBezTo>
                    <a:pt x="9117" y="1306080"/>
                    <a:pt x="0" y="1296963"/>
                    <a:pt x="0" y="1285716"/>
                  </a:cubicBezTo>
                  <a:lnTo>
                    <a:pt x="0" y="20364"/>
                  </a:lnTo>
                  <a:cubicBezTo>
                    <a:pt x="0" y="9117"/>
                    <a:pt x="9117" y="0"/>
                    <a:pt x="20364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64422" cy="1353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b="true" sz="2699" u="sng">
                  <a:solidFill>
                    <a:srgbClr val="FFFFFF"/>
                  </a:solidFill>
                  <a:latin typeface="Rosario Bold"/>
                  <a:ea typeface="Rosario Bold"/>
                  <a:cs typeface="Rosario Bold"/>
                  <a:sym typeface="Rosario Bold"/>
                </a:rPr>
                <a:t>Desarrollo de mercado i</a:t>
              </a:r>
              <a:r>
                <a:rPr lang="en-US" b="true" sz="2699" u="sng">
                  <a:solidFill>
                    <a:srgbClr val="FFFFFF"/>
                  </a:solidFill>
                  <a:latin typeface="Rosario Bold"/>
                  <a:ea typeface="Rosario Bold"/>
                  <a:cs typeface="Rosario Bold"/>
                  <a:sym typeface="Rosario Bold"/>
                </a:rPr>
                <a:t>nmobiliario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Visualización y buscador de viviendas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Desc</a:t>
              </a:r>
              <a:r>
                <a:rPr lang="en-US" sz="26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ubrir viviendas "joya" y sobrevaloradas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Pred</a:t>
              </a:r>
              <a:r>
                <a:rPr lang="en-US" sz="26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icción de precio de vivienda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19184" y="1823700"/>
            <a:ext cx="946044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Valoración de objetivos no cumplidos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295346" y="2871450"/>
            <a:ext cx="7603411" cy="5985815"/>
            <a:chOff x="0" y="0"/>
            <a:chExt cx="1964422" cy="15464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4422" cy="1546499"/>
            </a:xfrm>
            <a:custGeom>
              <a:avLst/>
              <a:gdLst/>
              <a:ahLst/>
              <a:cxnLst/>
              <a:rect r="r" b="b" t="t" l="l"/>
              <a:pathLst>
                <a:path h="1546499" w="1964422">
                  <a:moveTo>
                    <a:pt x="20364" y="0"/>
                  </a:moveTo>
                  <a:lnTo>
                    <a:pt x="1944058" y="0"/>
                  </a:lnTo>
                  <a:cubicBezTo>
                    <a:pt x="1955305" y="0"/>
                    <a:pt x="1964422" y="9117"/>
                    <a:pt x="1964422" y="20364"/>
                  </a:cubicBezTo>
                  <a:lnTo>
                    <a:pt x="1964422" y="1526135"/>
                  </a:lnTo>
                  <a:cubicBezTo>
                    <a:pt x="1964422" y="1537382"/>
                    <a:pt x="1955305" y="1546499"/>
                    <a:pt x="1944058" y="1546499"/>
                  </a:cubicBezTo>
                  <a:lnTo>
                    <a:pt x="20364" y="1546499"/>
                  </a:lnTo>
                  <a:cubicBezTo>
                    <a:pt x="9117" y="1546499"/>
                    <a:pt x="0" y="1537382"/>
                    <a:pt x="0" y="1526135"/>
                  </a:cubicBezTo>
                  <a:lnTo>
                    <a:pt x="0" y="20364"/>
                  </a:lnTo>
                  <a:cubicBezTo>
                    <a:pt x="0" y="9117"/>
                    <a:pt x="9117" y="0"/>
                    <a:pt x="20364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964422" cy="159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Análisis a nivel de barrio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 Recomendar vivienda en función de puntos de interés y zona de trabajo,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Cálculo de rutas y tiempo de desplazamiento con acceso a aplicación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Fine tunning de los modelos para obtener mejores resultados</a:t>
              </a:r>
            </a:p>
            <a:p>
              <a:pPr algn="ctr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19184" y="1823700"/>
            <a:ext cx="57523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Trabajos futuros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97548" y="2557125"/>
            <a:ext cx="5260912" cy="6385331"/>
            <a:chOff x="0" y="0"/>
            <a:chExt cx="1359213" cy="16497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9213" cy="1649718"/>
            </a:xfrm>
            <a:custGeom>
              <a:avLst/>
              <a:gdLst/>
              <a:ahLst/>
              <a:cxnLst/>
              <a:rect r="r" b="b" t="t" l="l"/>
              <a:pathLst>
                <a:path h="1649718" w="1359213">
                  <a:moveTo>
                    <a:pt x="29432" y="0"/>
                  </a:moveTo>
                  <a:lnTo>
                    <a:pt x="1329781" y="0"/>
                  </a:lnTo>
                  <a:cubicBezTo>
                    <a:pt x="1337587" y="0"/>
                    <a:pt x="1345073" y="3101"/>
                    <a:pt x="1350592" y="8620"/>
                  </a:cubicBezTo>
                  <a:cubicBezTo>
                    <a:pt x="1356112" y="14140"/>
                    <a:pt x="1359213" y="21626"/>
                    <a:pt x="1359213" y="29432"/>
                  </a:cubicBezTo>
                  <a:lnTo>
                    <a:pt x="1359213" y="1620287"/>
                  </a:lnTo>
                  <a:cubicBezTo>
                    <a:pt x="1359213" y="1636541"/>
                    <a:pt x="1346036" y="1649718"/>
                    <a:pt x="1329781" y="1649718"/>
                  </a:cubicBezTo>
                  <a:lnTo>
                    <a:pt x="29432" y="1649718"/>
                  </a:lnTo>
                  <a:cubicBezTo>
                    <a:pt x="13177" y="1649718"/>
                    <a:pt x="0" y="1636541"/>
                    <a:pt x="0" y="1620287"/>
                  </a:cubicBezTo>
                  <a:lnTo>
                    <a:pt x="0" y="29432"/>
                  </a:lnTo>
                  <a:cubicBezTo>
                    <a:pt x="0" y="13177"/>
                    <a:pt x="13177" y="0"/>
                    <a:pt x="29432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59213" cy="1687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99"/>
                </a:lnSpc>
              </a:pPr>
              <a:r>
                <a:rPr lang="en-US" sz="1999" u="sng" b="true">
                  <a:solidFill>
                    <a:srgbClr val="FFFFFF"/>
                  </a:solidFill>
                  <a:latin typeface="Rosario Bold"/>
                  <a:ea typeface="Rosario Bold"/>
                  <a:cs typeface="Rosario Bold"/>
                  <a:sym typeface="Rosario Bold"/>
                </a:rPr>
                <a:t>Línea de trabajo a corto plazo: </a:t>
              </a: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Incrementar datos de la API de Idealista que permitan realizar el fine tunning.</a:t>
              </a: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Recomendación de vivienda en tiempo real.</a:t>
              </a: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Alimentar el modelo con datos históricos. </a:t>
              </a: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Desplegar un modelo para las habitaciones y viviendas en alquiler.</a:t>
              </a: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Datos a nivel barrio o calle y determinar si una finca es buena o mala inversión.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44742" y="2499975"/>
            <a:ext cx="4792412" cy="6385331"/>
            <a:chOff x="0" y="0"/>
            <a:chExt cx="1238171" cy="16497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8171" cy="1649718"/>
            </a:xfrm>
            <a:custGeom>
              <a:avLst/>
              <a:gdLst/>
              <a:ahLst/>
              <a:cxnLst/>
              <a:rect r="r" b="b" t="t" l="l"/>
              <a:pathLst>
                <a:path h="1649718" w="1238171">
                  <a:moveTo>
                    <a:pt x="32309" y="0"/>
                  </a:moveTo>
                  <a:lnTo>
                    <a:pt x="1205862" y="0"/>
                  </a:lnTo>
                  <a:cubicBezTo>
                    <a:pt x="1214431" y="0"/>
                    <a:pt x="1222649" y="3404"/>
                    <a:pt x="1228708" y="9463"/>
                  </a:cubicBezTo>
                  <a:cubicBezTo>
                    <a:pt x="1234767" y="15522"/>
                    <a:pt x="1238171" y="23740"/>
                    <a:pt x="1238171" y="32309"/>
                  </a:cubicBezTo>
                  <a:lnTo>
                    <a:pt x="1238171" y="1617409"/>
                  </a:lnTo>
                  <a:cubicBezTo>
                    <a:pt x="1238171" y="1635253"/>
                    <a:pt x="1223705" y="1649718"/>
                    <a:pt x="1205862" y="1649718"/>
                  </a:cubicBezTo>
                  <a:lnTo>
                    <a:pt x="32309" y="1649718"/>
                  </a:lnTo>
                  <a:cubicBezTo>
                    <a:pt x="14465" y="1649718"/>
                    <a:pt x="0" y="1635253"/>
                    <a:pt x="0" y="1617409"/>
                  </a:cubicBezTo>
                  <a:lnTo>
                    <a:pt x="0" y="32309"/>
                  </a:lnTo>
                  <a:cubicBezTo>
                    <a:pt x="0" y="14465"/>
                    <a:pt x="14465" y="0"/>
                    <a:pt x="32309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38171" cy="1687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99"/>
                </a:lnSpc>
              </a:pPr>
              <a:r>
                <a:rPr lang="en-US" sz="1999" u="sng" b="true">
                  <a:solidFill>
                    <a:srgbClr val="FFFFFF"/>
                  </a:solidFill>
                  <a:latin typeface="Rosario Bold"/>
                  <a:ea typeface="Rosario Bold"/>
                  <a:cs typeface="Rosario Bold"/>
                  <a:sym typeface="Rosario Bold"/>
                </a:rPr>
                <a:t>Línea de trabajo a medio plazo: </a:t>
              </a: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Obtener series temporales de datos de vivienda para poder realizar una predicción de precio a futuro.</a:t>
              </a: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Alimentar el modelo con más datos sociodemográficos como población en activo, paro, inmigración, IPC.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13149" y="2499975"/>
            <a:ext cx="4754062" cy="6385331"/>
            <a:chOff x="0" y="0"/>
            <a:chExt cx="1228263" cy="16497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28263" cy="1649718"/>
            </a:xfrm>
            <a:custGeom>
              <a:avLst/>
              <a:gdLst/>
              <a:ahLst/>
              <a:cxnLst/>
              <a:rect r="r" b="b" t="t" l="l"/>
              <a:pathLst>
                <a:path h="1649718" w="1228263">
                  <a:moveTo>
                    <a:pt x="32570" y="0"/>
                  </a:moveTo>
                  <a:lnTo>
                    <a:pt x="1195693" y="0"/>
                  </a:lnTo>
                  <a:cubicBezTo>
                    <a:pt x="1213681" y="0"/>
                    <a:pt x="1228263" y="14582"/>
                    <a:pt x="1228263" y="32570"/>
                  </a:cubicBezTo>
                  <a:lnTo>
                    <a:pt x="1228263" y="1617149"/>
                  </a:lnTo>
                  <a:cubicBezTo>
                    <a:pt x="1228263" y="1635137"/>
                    <a:pt x="1213681" y="1649718"/>
                    <a:pt x="1195693" y="1649718"/>
                  </a:cubicBezTo>
                  <a:lnTo>
                    <a:pt x="32570" y="1649718"/>
                  </a:lnTo>
                  <a:cubicBezTo>
                    <a:pt x="14582" y="1649718"/>
                    <a:pt x="0" y="1635137"/>
                    <a:pt x="0" y="1617149"/>
                  </a:cubicBezTo>
                  <a:lnTo>
                    <a:pt x="0" y="32570"/>
                  </a:lnTo>
                  <a:cubicBezTo>
                    <a:pt x="0" y="14582"/>
                    <a:pt x="14582" y="0"/>
                    <a:pt x="32570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28263" cy="1687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99"/>
                </a:lnSpc>
              </a:pPr>
              <a:r>
                <a:rPr lang="en-US" sz="1999" u="sng" b="true">
                  <a:solidFill>
                    <a:srgbClr val="FFFFFF"/>
                  </a:solidFill>
                  <a:latin typeface="Rosario Bold"/>
                  <a:ea typeface="Rosario Bold"/>
                  <a:cs typeface="Rosario Bold"/>
                  <a:sym typeface="Rosario Bold"/>
                </a:rPr>
                <a:t>Línea de trabajo a largo plazo:</a:t>
              </a:r>
              <a:r>
                <a:rPr lang="en-US" sz="1999" u="sng" b="true">
                  <a:solidFill>
                    <a:srgbClr val="FFFFFF"/>
                  </a:solidFill>
                  <a:latin typeface="Rosario Bold"/>
                  <a:ea typeface="Rosario Bold"/>
                  <a:cs typeface="Rosario Bold"/>
                  <a:sym typeface="Rosario Bold"/>
                </a:rPr>
                <a:t> </a:t>
              </a: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Obtener precios de venta real, datos de hipotecas concedidas, amortizaciones y gastos.</a:t>
              </a: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D</a:t>
              </a:r>
              <a:r>
                <a:rPr lang="en-US" sz="19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eterminar la rentabilidad en caso de compra de vivienda y obtener un beneficio alquilando una vivienda</a:t>
              </a: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</a:p>
            <a:p>
              <a:pPr algn="ctr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598" y="466450"/>
            <a:ext cx="1827600" cy="1376400"/>
          </a:xfrm>
          <a:custGeom>
            <a:avLst/>
            <a:gdLst/>
            <a:ahLst/>
            <a:cxnLst/>
            <a:rect r="r" b="b" t="t" l="l"/>
            <a:pathLst>
              <a:path h="1376400" w="1827600">
                <a:moveTo>
                  <a:pt x="0" y="0"/>
                </a:moveTo>
                <a:lnTo>
                  <a:pt x="1827600" y="0"/>
                </a:lnTo>
                <a:lnTo>
                  <a:pt x="1827600" y="1376400"/>
                </a:lnTo>
                <a:lnTo>
                  <a:pt x="0" y="1376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21348" y="632998"/>
            <a:ext cx="2873998" cy="718800"/>
          </a:xfrm>
          <a:custGeom>
            <a:avLst/>
            <a:gdLst/>
            <a:ahLst/>
            <a:cxnLst/>
            <a:rect r="r" b="b" t="t" l="l"/>
            <a:pathLst>
              <a:path h="718800" w="2873998">
                <a:moveTo>
                  <a:pt x="0" y="0"/>
                </a:moveTo>
                <a:lnTo>
                  <a:pt x="2873998" y="0"/>
                </a:lnTo>
                <a:lnTo>
                  <a:pt x="2873998" y="718800"/>
                </a:lnTo>
                <a:lnTo>
                  <a:pt x="0" y="71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10461" b="1049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20502" y="1754550"/>
            <a:ext cx="15352200" cy="88200"/>
            <a:chOff x="0" y="0"/>
            <a:chExt cx="20469600" cy="11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20502" y="487300"/>
            <a:ext cx="15352200" cy="88200"/>
            <a:chOff x="0" y="0"/>
            <a:chExt cx="20469600" cy="11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69606" cy="117602"/>
            </a:xfrm>
            <a:custGeom>
              <a:avLst/>
              <a:gdLst/>
              <a:ahLst/>
              <a:cxnLst/>
              <a:rect r="r" b="b" t="t" l="l"/>
              <a:pathLst>
                <a:path h="117602" w="20469606">
                  <a:moveTo>
                    <a:pt x="0" y="0"/>
                  </a:moveTo>
                  <a:lnTo>
                    <a:pt x="20469606" y="0"/>
                  </a:lnTo>
                  <a:lnTo>
                    <a:pt x="20469606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0598" y="9661800"/>
            <a:ext cx="17332200" cy="88200"/>
            <a:chOff x="0" y="0"/>
            <a:chExt cx="23109600" cy="117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555" cy="117602"/>
            </a:xfrm>
            <a:custGeom>
              <a:avLst/>
              <a:gdLst/>
              <a:ahLst/>
              <a:cxnLst/>
              <a:rect r="r" b="b" t="t" l="l"/>
              <a:pathLst>
                <a:path h="117602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117602"/>
                  </a:lnTo>
                  <a:lnTo>
                    <a:pt x="0" y="117602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977498" y="606900"/>
            <a:ext cx="760542" cy="161848"/>
          </a:xfrm>
          <a:custGeom>
            <a:avLst/>
            <a:gdLst/>
            <a:ahLst/>
            <a:cxnLst/>
            <a:rect r="r" b="b" t="t" l="l"/>
            <a:pathLst>
              <a:path h="161848" w="760542">
                <a:moveTo>
                  <a:pt x="0" y="0"/>
                </a:moveTo>
                <a:lnTo>
                  <a:pt x="760542" y="0"/>
                </a:lnTo>
                <a:lnTo>
                  <a:pt x="760542" y="161848"/>
                </a:lnTo>
                <a:lnTo>
                  <a:pt x="0" y="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t="0" r="-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19184" y="1823700"/>
            <a:ext cx="57523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Aplicación Streamlit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793446" y="4242946"/>
            <a:ext cx="7822708" cy="2527706"/>
            <a:chOff x="0" y="0"/>
            <a:chExt cx="2021080" cy="6530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21080" cy="653060"/>
            </a:xfrm>
            <a:custGeom>
              <a:avLst/>
              <a:gdLst/>
              <a:ahLst/>
              <a:cxnLst/>
              <a:rect r="r" b="b" t="t" l="l"/>
              <a:pathLst>
                <a:path h="653060" w="2021080">
                  <a:moveTo>
                    <a:pt x="19793" y="0"/>
                  </a:moveTo>
                  <a:lnTo>
                    <a:pt x="2001287" y="0"/>
                  </a:lnTo>
                  <a:cubicBezTo>
                    <a:pt x="2006536" y="0"/>
                    <a:pt x="2011571" y="2085"/>
                    <a:pt x="2015283" y="5797"/>
                  </a:cubicBezTo>
                  <a:cubicBezTo>
                    <a:pt x="2018995" y="9509"/>
                    <a:pt x="2021080" y="14544"/>
                    <a:pt x="2021080" y="19793"/>
                  </a:cubicBezTo>
                  <a:lnTo>
                    <a:pt x="2021080" y="633266"/>
                  </a:lnTo>
                  <a:cubicBezTo>
                    <a:pt x="2021080" y="638516"/>
                    <a:pt x="2018995" y="643551"/>
                    <a:pt x="2015283" y="647263"/>
                  </a:cubicBezTo>
                  <a:cubicBezTo>
                    <a:pt x="2011571" y="650975"/>
                    <a:pt x="2006536" y="653060"/>
                    <a:pt x="2001287" y="653060"/>
                  </a:cubicBezTo>
                  <a:lnTo>
                    <a:pt x="19793" y="653060"/>
                  </a:lnTo>
                  <a:cubicBezTo>
                    <a:pt x="14544" y="653060"/>
                    <a:pt x="9509" y="650975"/>
                    <a:pt x="5797" y="647263"/>
                  </a:cubicBezTo>
                  <a:cubicBezTo>
                    <a:pt x="2085" y="643551"/>
                    <a:pt x="0" y="638516"/>
                    <a:pt x="0" y="633266"/>
                  </a:cubicBezTo>
                  <a:lnTo>
                    <a:pt x="0" y="19793"/>
                  </a:lnTo>
                  <a:cubicBezTo>
                    <a:pt x="0" y="14544"/>
                    <a:pt x="2085" y="9509"/>
                    <a:pt x="5797" y="5797"/>
                  </a:cubicBezTo>
                  <a:cubicBezTo>
                    <a:pt x="9509" y="2085"/>
                    <a:pt x="14544" y="0"/>
                    <a:pt x="19793" y="0"/>
                  </a:cubicBezTo>
                  <a:close/>
                </a:path>
              </a:pathLst>
            </a:custGeom>
            <a:solidFill>
              <a:srgbClr val="000078"/>
            </a:solidFill>
            <a:ln w="95250" cap="sq">
              <a:solidFill>
                <a:srgbClr val="73ED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21080" cy="691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99"/>
                </a:lnSpc>
              </a:pPr>
            </a:p>
            <a:p>
              <a:pPr algn="ctr">
                <a:lnSpc>
                  <a:spcPts val="5459"/>
                </a:lnSpc>
              </a:pPr>
              <a:r>
                <a:rPr lang="en-US" sz="38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MUESTRA USO </a:t>
              </a:r>
              <a:r>
                <a:rPr lang="en-US" sz="3899">
                  <a:solidFill>
                    <a:srgbClr val="FFFFFF"/>
                  </a:solidFill>
                  <a:latin typeface="Rosario"/>
                  <a:ea typeface="Rosario"/>
                  <a:cs typeface="Rosario"/>
                  <a:sym typeface="Rosario"/>
                </a:rPr>
                <a:t>DE APLICACIÓN </a:t>
              </a:r>
            </a:p>
            <a:p>
              <a:pPr algn="ctr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604" y="466428"/>
            <a:ext cx="1194600" cy="899400"/>
          </a:xfrm>
          <a:custGeom>
            <a:avLst/>
            <a:gdLst/>
            <a:ahLst/>
            <a:cxnLst/>
            <a:rect r="r" b="b" t="t" l="l"/>
            <a:pathLst>
              <a:path h="899400" w="1194600">
                <a:moveTo>
                  <a:pt x="0" y="0"/>
                </a:moveTo>
                <a:lnTo>
                  <a:pt x="1194600" y="0"/>
                </a:lnTo>
                <a:lnTo>
                  <a:pt x="1194600" y="899400"/>
                </a:lnTo>
                <a:lnTo>
                  <a:pt x="0" y="899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200" y="575300"/>
            <a:ext cx="1972800" cy="493800"/>
          </a:xfrm>
          <a:custGeom>
            <a:avLst/>
            <a:gdLst/>
            <a:ahLst/>
            <a:cxnLst/>
            <a:rect r="r" b="b" t="t" l="l"/>
            <a:pathLst>
              <a:path h="493800" w="1972800">
                <a:moveTo>
                  <a:pt x="0" y="0"/>
                </a:moveTo>
                <a:lnTo>
                  <a:pt x="1972800" y="0"/>
                </a:lnTo>
                <a:lnTo>
                  <a:pt x="1972800" y="493800"/>
                </a:lnTo>
                <a:lnTo>
                  <a:pt x="0" y="49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10390" b="1049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40600" y="9778950"/>
            <a:ext cx="17332200" cy="57600"/>
            <a:chOff x="0" y="0"/>
            <a:chExt cx="23109600" cy="76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109555" cy="76835"/>
            </a:xfrm>
            <a:custGeom>
              <a:avLst/>
              <a:gdLst/>
              <a:ahLst/>
              <a:cxnLst/>
              <a:rect r="r" b="b" t="t" l="l"/>
              <a:pathLst>
                <a:path h="76835" w="23109555">
                  <a:moveTo>
                    <a:pt x="0" y="0"/>
                  </a:moveTo>
                  <a:lnTo>
                    <a:pt x="23109555" y="0"/>
                  </a:lnTo>
                  <a:lnTo>
                    <a:pt x="23109555" y="76835"/>
                  </a:lnTo>
                  <a:lnTo>
                    <a:pt x="0" y="76835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38100" y="1308350"/>
            <a:ext cx="14736600" cy="57600"/>
            <a:chOff x="0" y="0"/>
            <a:chExt cx="19648800" cy="76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648805" cy="76835"/>
            </a:xfrm>
            <a:custGeom>
              <a:avLst/>
              <a:gdLst/>
              <a:ahLst/>
              <a:cxnLst/>
              <a:rect r="r" b="b" t="t" l="l"/>
              <a:pathLst>
                <a:path h="76835" w="19648805">
                  <a:moveTo>
                    <a:pt x="0" y="0"/>
                  </a:moveTo>
                  <a:lnTo>
                    <a:pt x="19648805" y="0"/>
                  </a:lnTo>
                  <a:lnTo>
                    <a:pt x="19648805" y="76835"/>
                  </a:lnTo>
                  <a:lnTo>
                    <a:pt x="0" y="76835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8100" y="479250"/>
            <a:ext cx="14736600" cy="57600"/>
            <a:chOff x="0" y="0"/>
            <a:chExt cx="19648800" cy="7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48805" cy="76835"/>
            </a:xfrm>
            <a:custGeom>
              <a:avLst/>
              <a:gdLst/>
              <a:ahLst/>
              <a:cxnLst/>
              <a:rect r="r" b="b" t="t" l="l"/>
              <a:pathLst>
                <a:path h="76835" w="19648805">
                  <a:moveTo>
                    <a:pt x="0" y="0"/>
                  </a:moveTo>
                  <a:lnTo>
                    <a:pt x="19648805" y="0"/>
                  </a:lnTo>
                  <a:lnTo>
                    <a:pt x="19648805" y="76835"/>
                  </a:lnTo>
                  <a:lnTo>
                    <a:pt x="0" y="76835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577900" y="1308350"/>
            <a:ext cx="1194600" cy="57600"/>
            <a:chOff x="0" y="0"/>
            <a:chExt cx="1592800" cy="76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2834" cy="76835"/>
            </a:xfrm>
            <a:custGeom>
              <a:avLst/>
              <a:gdLst/>
              <a:ahLst/>
              <a:cxnLst/>
              <a:rect r="r" b="b" t="t" l="l"/>
              <a:pathLst>
                <a:path h="76835" w="1592834">
                  <a:moveTo>
                    <a:pt x="0" y="0"/>
                  </a:moveTo>
                  <a:lnTo>
                    <a:pt x="1592834" y="0"/>
                  </a:lnTo>
                  <a:lnTo>
                    <a:pt x="1592834" y="76835"/>
                  </a:lnTo>
                  <a:lnTo>
                    <a:pt x="0" y="76835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77900" y="478100"/>
            <a:ext cx="1194600" cy="57600"/>
            <a:chOff x="0" y="0"/>
            <a:chExt cx="1592800" cy="76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92834" cy="76835"/>
            </a:xfrm>
            <a:custGeom>
              <a:avLst/>
              <a:gdLst/>
              <a:ahLst/>
              <a:cxnLst/>
              <a:rect r="r" b="b" t="t" l="l"/>
              <a:pathLst>
                <a:path h="76835" w="1592834">
                  <a:moveTo>
                    <a:pt x="0" y="0"/>
                  </a:moveTo>
                  <a:lnTo>
                    <a:pt x="1592834" y="0"/>
                  </a:lnTo>
                  <a:lnTo>
                    <a:pt x="1592834" y="76835"/>
                  </a:lnTo>
                  <a:lnTo>
                    <a:pt x="0" y="76835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577900" y="575300"/>
            <a:ext cx="603250" cy="128400"/>
          </a:xfrm>
          <a:custGeom>
            <a:avLst/>
            <a:gdLst/>
            <a:ahLst/>
            <a:cxnLst/>
            <a:rect r="r" b="b" t="t" l="l"/>
            <a:pathLst>
              <a:path h="128400" w="603250">
                <a:moveTo>
                  <a:pt x="0" y="0"/>
                </a:moveTo>
                <a:lnTo>
                  <a:pt x="603250" y="0"/>
                </a:lnTo>
                <a:lnTo>
                  <a:pt x="603250" y="128400"/>
                </a:lnTo>
                <a:lnTo>
                  <a:pt x="0" y="128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" t="0" r="-11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0" y="0"/>
            <a:ext cx="18288000" cy="10387069"/>
            <a:chOff x="0" y="0"/>
            <a:chExt cx="24384000" cy="138494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13849424"/>
            </a:xfrm>
            <a:custGeom>
              <a:avLst/>
              <a:gdLst/>
              <a:ahLst/>
              <a:cxnLst/>
              <a:rect r="r" b="b" t="t" l="l"/>
              <a:pathLst>
                <a:path h="1384942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849424"/>
                  </a:lnTo>
                  <a:lnTo>
                    <a:pt x="0" y="13849424"/>
                  </a:lnTo>
                  <a:close/>
                </a:path>
              </a:pathLst>
            </a:custGeom>
            <a:solidFill>
              <a:srgbClr val="000078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5863162" y="466428"/>
            <a:ext cx="2424838" cy="1676222"/>
          </a:xfrm>
          <a:custGeom>
            <a:avLst/>
            <a:gdLst/>
            <a:ahLst/>
            <a:cxnLst/>
            <a:rect r="r" b="b" t="t" l="l"/>
            <a:pathLst>
              <a:path h="1676222" w="2424838">
                <a:moveTo>
                  <a:pt x="0" y="0"/>
                </a:moveTo>
                <a:lnTo>
                  <a:pt x="2424838" y="0"/>
                </a:lnTo>
                <a:lnTo>
                  <a:pt x="2424838" y="1676222"/>
                </a:lnTo>
                <a:lnTo>
                  <a:pt x="0" y="16762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1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451944" y="469900"/>
            <a:ext cx="7724400" cy="57600"/>
            <a:chOff x="0" y="0"/>
            <a:chExt cx="10299200" cy="76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99192" cy="76835"/>
            </a:xfrm>
            <a:custGeom>
              <a:avLst/>
              <a:gdLst/>
              <a:ahLst/>
              <a:cxnLst/>
              <a:rect r="r" b="b" t="t" l="l"/>
              <a:pathLst>
                <a:path h="76835" w="10299192">
                  <a:moveTo>
                    <a:pt x="0" y="0"/>
                  </a:moveTo>
                  <a:lnTo>
                    <a:pt x="10299192" y="0"/>
                  </a:lnTo>
                  <a:lnTo>
                    <a:pt x="10299192" y="76835"/>
                  </a:lnTo>
                  <a:lnTo>
                    <a:pt x="0" y="76835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452500" y="565950"/>
            <a:ext cx="2468400" cy="617400"/>
          </a:xfrm>
          <a:custGeom>
            <a:avLst/>
            <a:gdLst/>
            <a:ahLst/>
            <a:cxnLst/>
            <a:rect r="r" b="b" t="t" l="l"/>
            <a:pathLst>
              <a:path h="617400" w="2468400">
                <a:moveTo>
                  <a:pt x="0" y="0"/>
                </a:moveTo>
                <a:lnTo>
                  <a:pt x="2468400" y="0"/>
                </a:lnTo>
                <a:lnTo>
                  <a:pt x="2468400" y="617400"/>
                </a:lnTo>
                <a:lnTo>
                  <a:pt x="0" y="61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10455" b="10499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452500" y="9723050"/>
            <a:ext cx="7724400" cy="57600"/>
            <a:chOff x="0" y="0"/>
            <a:chExt cx="10299200" cy="76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99192" cy="76835"/>
            </a:xfrm>
            <a:custGeom>
              <a:avLst/>
              <a:gdLst/>
              <a:ahLst/>
              <a:cxnLst/>
              <a:rect r="r" b="b" t="t" l="l"/>
              <a:pathLst>
                <a:path h="76835" w="10299192">
                  <a:moveTo>
                    <a:pt x="0" y="0"/>
                  </a:moveTo>
                  <a:lnTo>
                    <a:pt x="10299192" y="0"/>
                  </a:lnTo>
                  <a:lnTo>
                    <a:pt x="10299192" y="76835"/>
                  </a:lnTo>
                  <a:lnTo>
                    <a:pt x="0" y="76835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51944" y="1664450"/>
            <a:ext cx="7724400" cy="57600"/>
            <a:chOff x="0" y="0"/>
            <a:chExt cx="10299200" cy="76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99192" cy="76835"/>
            </a:xfrm>
            <a:custGeom>
              <a:avLst/>
              <a:gdLst/>
              <a:ahLst/>
              <a:cxnLst/>
              <a:rect r="r" b="b" t="t" l="l"/>
              <a:pathLst>
                <a:path h="76835" w="10299192">
                  <a:moveTo>
                    <a:pt x="0" y="0"/>
                  </a:moveTo>
                  <a:lnTo>
                    <a:pt x="10299192" y="0"/>
                  </a:lnTo>
                  <a:lnTo>
                    <a:pt x="10299192" y="76835"/>
                  </a:lnTo>
                  <a:lnTo>
                    <a:pt x="0" y="76835"/>
                  </a:lnTo>
                  <a:close/>
                </a:path>
              </a:pathLst>
            </a:custGeom>
            <a:solidFill>
              <a:srgbClr val="73EDFF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466750" y="7997500"/>
            <a:ext cx="367974" cy="382698"/>
          </a:xfrm>
          <a:custGeom>
            <a:avLst/>
            <a:gdLst/>
            <a:ahLst/>
            <a:cxnLst/>
            <a:rect r="r" b="b" t="t" l="l"/>
            <a:pathLst>
              <a:path h="382698" w="367974">
                <a:moveTo>
                  <a:pt x="0" y="0"/>
                </a:moveTo>
                <a:lnTo>
                  <a:pt x="367974" y="0"/>
                </a:lnTo>
                <a:lnTo>
                  <a:pt x="367974" y="382698"/>
                </a:lnTo>
                <a:lnTo>
                  <a:pt x="0" y="3826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42218" y="8578126"/>
            <a:ext cx="417036" cy="343446"/>
          </a:xfrm>
          <a:custGeom>
            <a:avLst/>
            <a:gdLst/>
            <a:ahLst/>
            <a:cxnLst/>
            <a:rect r="r" b="b" t="t" l="l"/>
            <a:pathLst>
              <a:path h="343446" w="417036">
                <a:moveTo>
                  <a:pt x="0" y="0"/>
                </a:moveTo>
                <a:lnTo>
                  <a:pt x="417036" y="0"/>
                </a:lnTo>
                <a:lnTo>
                  <a:pt x="417036" y="343446"/>
                </a:lnTo>
                <a:lnTo>
                  <a:pt x="0" y="3434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66730" y="9119502"/>
            <a:ext cx="382692" cy="382698"/>
          </a:xfrm>
          <a:custGeom>
            <a:avLst/>
            <a:gdLst/>
            <a:ahLst/>
            <a:cxnLst/>
            <a:rect r="r" b="b" t="t" l="l"/>
            <a:pathLst>
              <a:path h="382698" w="382692">
                <a:moveTo>
                  <a:pt x="0" y="0"/>
                </a:moveTo>
                <a:lnTo>
                  <a:pt x="382692" y="0"/>
                </a:lnTo>
                <a:lnTo>
                  <a:pt x="382692" y="382698"/>
                </a:lnTo>
                <a:lnTo>
                  <a:pt x="0" y="3826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-1666598" y="3037906"/>
            <a:ext cx="21621195" cy="2677806"/>
            <a:chOff x="0" y="0"/>
            <a:chExt cx="4341742" cy="5377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41742" cy="537729"/>
            </a:xfrm>
            <a:custGeom>
              <a:avLst/>
              <a:gdLst/>
              <a:ahLst/>
              <a:cxnLst/>
              <a:rect r="r" b="b" t="t" l="l"/>
              <a:pathLst>
                <a:path h="537729" w="4341742">
                  <a:moveTo>
                    <a:pt x="35807" y="0"/>
                  </a:moveTo>
                  <a:lnTo>
                    <a:pt x="4305935" y="0"/>
                  </a:lnTo>
                  <a:cubicBezTo>
                    <a:pt x="4325711" y="0"/>
                    <a:pt x="4341742" y="16031"/>
                    <a:pt x="4341742" y="35807"/>
                  </a:cubicBezTo>
                  <a:lnTo>
                    <a:pt x="4341742" y="501922"/>
                  </a:lnTo>
                  <a:cubicBezTo>
                    <a:pt x="4341742" y="521698"/>
                    <a:pt x="4325711" y="537729"/>
                    <a:pt x="4305935" y="537729"/>
                  </a:cubicBezTo>
                  <a:lnTo>
                    <a:pt x="35807" y="537729"/>
                  </a:lnTo>
                  <a:cubicBezTo>
                    <a:pt x="16031" y="537729"/>
                    <a:pt x="0" y="521698"/>
                    <a:pt x="0" y="501922"/>
                  </a:cubicBezTo>
                  <a:lnTo>
                    <a:pt x="0" y="35807"/>
                  </a:lnTo>
                  <a:cubicBezTo>
                    <a:pt x="0" y="16031"/>
                    <a:pt x="16031" y="0"/>
                    <a:pt x="35807" y="0"/>
                  </a:cubicBezTo>
                  <a:close/>
                </a:path>
              </a:pathLst>
            </a:custGeom>
            <a:solidFill>
              <a:srgbClr val="010077"/>
            </a:solidFill>
            <a:ln w="47625" cap="rnd">
              <a:solidFill>
                <a:srgbClr val="010077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341742" cy="57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481550" y="2733106"/>
            <a:ext cx="7896924" cy="2939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GRACIAS POR </a:t>
            </a:r>
          </a:p>
          <a:p>
            <a:pPr algn="ctr">
              <a:lnSpc>
                <a:spcPts val="11248"/>
              </a:lnSpc>
            </a:pPr>
            <a:r>
              <a:rPr lang="en-US" b="true" sz="8034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SU ATENCIÓN</a:t>
            </a:r>
          </a:p>
        </p:txBody>
      </p:sp>
      <p:sp>
        <p:nvSpPr>
          <p:cNvPr name="AutoShape 32" id="32"/>
          <p:cNvSpPr/>
          <p:nvPr/>
        </p:nvSpPr>
        <p:spPr>
          <a:xfrm flipV="true">
            <a:off x="-2911963" y="3952318"/>
            <a:ext cx="7293140" cy="19050"/>
          </a:xfrm>
          <a:prstGeom prst="line">
            <a:avLst/>
          </a:prstGeom>
          <a:ln cap="flat" w="38100">
            <a:solidFill>
              <a:srgbClr val="73EDFF">
                <a:alpha val="74902"/>
              </a:srgbClr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33" id="33"/>
          <p:cNvSpPr/>
          <p:nvPr/>
        </p:nvSpPr>
        <p:spPr>
          <a:xfrm flipV="true">
            <a:off x="13832222" y="3914218"/>
            <a:ext cx="7367740" cy="38100"/>
          </a:xfrm>
          <a:prstGeom prst="line">
            <a:avLst/>
          </a:prstGeom>
          <a:ln cap="flat" w="38100">
            <a:solidFill>
              <a:srgbClr val="73EDFF">
                <a:alpha val="74902"/>
              </a:srgbClr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465132" y="7997500"/>
            <a:ext cx="367974" cy="382698"/>
          </a:xfrm>
          <a:custGeom>
            <a:avLst/>
            <a:gdLst/>
            <a:ahLst/>
            <a:cxnLst/>
            <a:rect r="r" b="b" t="t" l="l"/>
            <a:pathLst>
              <a:path h="382698" w="367974">
                <a:moveTo>
                  <a:pt x="0" y="0"/>
                </a:moveTo>
                <a:lnTo>
                  <a:pt x="367974" y="0"/>
                </a:lnTo>
                <a:lnTo>
                  <a:pt x="367974" y="382698"/>
                </a:lnTo>
                <a:lnTo>
                  <a:pt x="0" y="3826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40600" y="8578126"/>
            <a:ext cx="417036" cy="343446"/>
          </a:xfrm>
          <a:custGeom>
            <a:avLst/>
            <a:gdLst/>
            <a:ahLst/>
            <a:cxnLst/>
            <a:rect r="r" b="b" t="t" l="l"/>
            <a:pathLst>
              <a:path h="343446" w="417036">
                <a:moveTo>
                  <a:pt x="0" y="0"/>
                </a:moveTo>
                <a:lnTo>
                  <a:pt x="417036" y="0"/>
                </a:lnTo>
                <a:lnTo>
                  <a:pt x="417036" y="343446"/>
                </a:lnTo>
                <a:lnTo>
                  <a:pt x="0" y="3434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65112" y="9119502"/>
            <a:ext cx="382692" cy="382698"/>
          </a:xfrm>
          <a:custGeom>
            <a:avLst/>
            <a:gdLst/>
            <a:ahLst/>
            <a:cxnLst/>
            <a:rect r="r" b="b" t="t" l="l"/>
            <a:pathLst>
              <a:path h="382698" w="382692">
                <a:moveTo>
                  <a:pt x="0" y="0"/>
                </a:moveTo>
                <a:lnTo>
                  <a:pt x="382692" y="0"/>
                </a:lnTo>
                <a:lnTo>
                  <a:pt x="382692" y="382698"/>
                </a:lnTo>
                <a:lnTo>
                  <a:pt x="0" y="3826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527713" y="6429917"/>
            <a:ext cx="6302729" cy="129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1F1F1"/>
                </a:solidFill>
                <a:latin typeface="Arial MT Pro"/>
                <a:ea typeface="Arial MT Pro"/>
                <a:cs typeface="Arial MT Pro"/>
                <a:sym typeface="Arial MT Pro"/>
              </a:rPr>
              <a:t>Autor: Abel Mora Vázquez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1F1F1"/>
                </a:solidFill>
                <a:latin typeface="Arial MT Pro"/>
                <a:ea typeface="Arial MT Pro"/>
                <a:cs typeface="Arial MT Pro"/>
                <a:sym typeface="Arial MT Pro"/>
              </a:rPr>
              <a:t>Tutor: Rafael Luque Ocaña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019613" y="9452560"/>
            <a:ext cx="5668111" cy="53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Máster Ciencia de Datos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6461" y="8007891"/>
            <a:ext cx="5931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UOC.universitat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6461" y="8532333"/>
            <a:ext cx="5931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@UOCuniversidad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6461" y="9129877"/>
            <a:ext cx="5931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UOCuniversitat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DAG9pkIvnOY</dc:identifier>
  <dcterms:modified xsi:type="dcterms:W3CDTF">2011-08-01T06:04:30Z</dcterms:modified>
  <cp:revision>1</cp:revision>
  <dc:title> TRABAJO FINAL MASTER</dc:title>
</cp:coreProperties>
</file>